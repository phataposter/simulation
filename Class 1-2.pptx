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96" r:id="rId12"/>
    <p:sldId id="266" r:id="rId13"/>
    <p:sldId id="267" r:id="rId14"/>
    <p:sldId id="268" r:id="rId15"/>
    <p:sldId id="269" r:id="rId16"/>
    <p:sldId id="270" r:id="rId17"/>
    <p:sldId id="271" r:id="rId18"/>
    <p:sldId id="272" r:id="rId19"/>
    <p:sldId id="273" r:id="rId20"/>
    <p:sldId id="275" r:id="rId21"/>
    <p:sldId id="274" r:id="rId22"/>
    <p:sldId id="276" r:id="rId23"/>
    <p:sldId id="277" r:id="rId24"/>
    <p:sldId id="280" r:id="rId25"/>
    <p:sldId id="278" r:id="rId26"/>
    <p:sldId id="279" r:id="rId27"/>
    <p:sldId id="281" r:id="rId28"/>
    <p:sldId id="282" r:id="rId29"/>
    <p:sldId id="283" r:id="rId30"/>
    <p:sldId id="284" r:id="rId31"/>
    <p:sldId id="323" r:id="rId32"/>
    <p:sldId id="285" r:id="rId33"/>
    <p:sldId id="286" r:id="rId34"/>
    <p:sldId id="288" r:id="rId35"/>
    <p:sldId id="322" r:id="rId36"/>
    <p:sldId id="289" r:id="rId37"/>
    <p:sldId id="290" r:id="rId38"/>
    <p:sldId id="291" r:id="rId39"/>
    <p:sldId id="297" r:id="rId40"/>
    <p:sldId id="298" r:id="rId41"/>
    <p:sldId id="299" r:id="rId42"/>
    <p:sldId id="321" r:id="rId43"/>
    <p:sldId id="300" r:id="rId44"/>
    <p:sldId id="301" r:id="rId45"/>
    <p:sldId id="302" r:id="rId46"/>
    <p:sldId id="303" r:id="rId47"/>
    <p:sldId id="304" r:id="rId48"/>
    <p:sldId id="305" r:id="rId49"/>
    <p:sldId id="306" r:id="rId50"/>
    <p:sldId id="307" r:id="rId51"/>
    <p:sldId id="308" r:id="rId52"/>
    <p:sldId id="310" r:id="rId53"/>
    <p:sldId id="311" r:id="rId54"/>
    <p:sldId id="309" r:id="rId55"/>
    <p:sldId id="312" r:id="rId56"/>
    <p:sldId id="313" r:id="rId57"/>
    <p:sldId id="314" r:id="rId58"/>
    <p:sldId id="315" r:id="rId59"/>
    <p:sldId id="316" r:id="rId60"/>
    <p:sldId id="317" r:id="rId61"/>
    <p:sldId id="318" r:id="rId62"/>
    <p:sldId id="319"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3" autoAdjust="0"/>
    <p:restoredTop sz="94660"/>
  </p:normalViewPr>
  <p:slideViewPr>
    <p:cSldViewPr>
      <p:cViewPr varScale="1">
        <p:scale>
          <a:sx n="58" d="100"/>
          <a:sy n="58" d="100"/>
        </p:scale>
        <p:origin x="145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Simulation Modeling and Analysis</a:t>
            </a:r>
          </a:p>
        </p:txBody>
      </p:sp>
      <p:sp>
        <p:nvSpPr>
          <p:cNvPr id="3" name="Subtitle 2"/>
          <p:cNvSpPr>
            <a:spLocks noGrp="1"/>
          </p:cNvSpPr>
          <p:nvPr>
            <p:ph type="subTitle" idx="1"/>
          </p:nvPr>
        </p:nvSpPr>
        <p:spPr/>
        <p:txBody>
          <a:bodyPr/>
          <a:lstStyle/>
          <a:p>
            <a:r>
              <a:rPr lang="en-US" dirty="0"/>
              <a:t>Dr. Md. </a:t>
            </a:r>
            <a:r>
              <a:rPr lang="en-US" dirty="0" err="1"/>
              <a:t>Nasim</a:t>
            </a:r>
            <a:r>
              <a:rPr lang="en-US" dirty="0"/>
              <a:t> </a:t>
            </a:r>
            <a:r>
              <a:rPr lang="en-US" dirty="0" err="1"/>
              <a:t>Adnan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Nature of Simulation</a:t>
            </a:r>
          </a:p>
        </p:txBody>
      </p:sp>
      <p:sp>
        <p:nvSpPr>
          <p:cNvPr id="3" name="Content Placeholder 2"/>
          <p:cNvSpPr>
            <a:spLocks noGrp="1"/>
          </p:cNvSpPr>
          <p:nvPr>
            <p:ph idx="1"/>
          </p:nvPr>
        </p:nvSpPr>
        <p:spPr>
          <a:xfrm>
            <a:off x="457200" y="1447800"/>
            <a:ext cx="8229600" cy="4876800"/>
          </a:xfrm>
        </p:spPr>
        <p:txBody>
          <a:bodyPr>
            <a:normAutofit/>
          </a:bodyPr>
          <a:lstStyle/>
          <a:p>
            <a:pPr algn="just"/>
            <a:r>
              <a:rPr lang="en-US" dirty="0"/>
              <a:t>This is a course about techniques for using computers to imitate, or simulate, the operations of various kinds of real-world facilities or processes (in other words, called systems).</a:t>
            </a:r>
          </a:p>
          <a:p>
            <a:pPr algn="just"/>
            <a:r>
              <a:rPr lang="en-US" b="1" i="1" dirty="0"/>
              <a:t>A system is defined to be a collection of entities, e.g., people or machines, that interact together toward the accomplishment of some logical end</a:t>
            </a:r>
            <a:r>
              <a:rPr lang="en-U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a:t>
            </a:r>
          </a:p>
        </p:txBody>
      </p:sp>
      <p:sp>
        <p:nvSpPr>
          <p:cNvPr id="3" name="Content Placeholder 2"/>
          <p:cNvSpPr>
            <a:spLocks noGrp="1"/>
          </p:cNvSpPr>
          <p:nvPr>
            <p:ph idx="1"/>
          </p:nvPr>
        </p:nvSpPr>
        <p:spPr>
          <a:xfrm>
            <a:off x="457200" y="1600200"/>
            <a:ext cx="8229600" cy="4800600"/>
          </a:xfrm>
        </p:spPr>
        <p:txBody>
          <a:bodyPr>
            <a:normAutofit fontScale="85000" lnSpcReduction="10000"/>
          </a:bodyPr>
          <a:lstStyle/>
          <a:p>
            <a:pPr algn="just"/>
            <a:r>
              <a:rPr lang="en-US" dirty="0"/>
              <a:t>In practice, what is meant by “the system” depends on the objectives of a particular study. The collection of entities that comprise a system for one study might be only a subset of the overall system for another.</a:t>
            </a:r>
          </a:p>
          <a:p>
            <a:pPr algn="just"/>
            <a:r>
              <a:rPr lang="en-US" dirty="0"/>
              <a:t>For example, if one wants to study a bank to determine the number of tellers needed to provide adequate service for customers, the system can be defined to be that portion of the bank consisting of the tellers and the customers waiting in line or being served.</a:t>
            </a:r>
          </a:p>
          <a:p>
            <a:pPr algn="just"/>
            <a:r>
              <a:rPr lang="en-US" dirty="0"/>
              <a:t>If, on the other hand, the loan officer and the safe-deposit boxes are to be included, the definition of the system must be expanded in an obvious way.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a:t>
            </a:r>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pPr algn="just"/>
            <a:r>
              <a:rPr lang="en-US" dirty="0"/>
              <a:t>We define the </a:t>
            </a:r>
            <a:r>
              <a:rPr lang="en-US" b="1" i="1" dirty="0"/>
              <a:t>state</a:t>
            </a:r>
            <a:r>
              <a:rPr lang="en-US" dirty="0"/>
              <a:t> of a system to be that collection of variables necessary to describe a system at a particular time, relative to the objectives of a study.</a:t>
            </a:r>
          </a:p>
          <a:p>
            <a:pPr algn="just"/>
            <a:r>
              <a:rPr lang="en-US" dirty="0"/>
              <a:t>In a study of a bank, examples of possible state variables are the number of busy tellers, the number of customers in the bank, and the time of arrival of each customer in the bank.</a:t>
            </a:r>
          </a:p>
          <a:p>
            <a:pPr algn="just"/>
            <a:r>
              <a:rPr lang="en-US" dirty="0"/>
              <a:t>We categorize systems to be of two types, discrete and continuous. A discrete system is one for which the state variables change instantaneously at separated points in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US" dirty="0"/>
          </a:p>
        </p:txBody>
      </p:sp>
      <p:sp>
        <p:nvSpPr>
          <p:cNvPr id="3" name="Content Placeholder 2"/>
          <p:cNvSpPr>
            <a:spLocks noGrp="1"/>
          </p:cNvSpPr>
          <p:nvPr>
            <p:ph idx="1"/>
          </p:nvPr>
        </p:nvSpPr>
        <p:spPr>
          <a:xfrm>
            <a:off x="457200" y="914400"/>
            <a:ext cx="8229600" cy="5715000"/>
          </a:xfrm>
        </p:spPr>
        <p:txBody>
          <a:bodyPr>
            <a:normAutofit fontScale="92500" lnSpcReduction="10000"/>
          </a:bodyPr>
          <a:lstStyle/>
          <a:p>
            <a:pPr algn="just"/>
            <a:r>
              <a:rPr lang="en-US" dirty="0"/>
              <a:t>A bank is an example of a discrete system, since state variables— e.g., the number of customers in the bank—change only when a customer arrives or when a customer finishes being served and departs.</a:t>
            </a:r>
          </a:p>
          <a:p>
            <a:pPr algn="just"/>
            <a:r>
              <a:rPr lang="en-US" dirty="0"/>
              <a:t>A continuous system is one for which the state variables change continuously with respect to time. An airplane moving through the air is an example of a continuous system, since state variables such as position can change continuously with respect to time.</a:t>
            </a:r>
          </a:p>
          <a:p>
            <a:pPr algn="just"/>
            <a:r>
              <a:rPr lang="en-US" dirty="0"/>
              <a:t>Few systems in practice are wholly discrete or wholly continuous…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Ways to Study a System</a:t>
            </a:r>
          </a:p>
        </p:txBody>
      </p:sp>
      <p:pic>
        <p:nvPicPr>
          <p:cNvPr id="4" name="Content Placeholder 3" descr="C1P1.jpg"/>
          <p:cNvPicPr>
            <a:picLocks noGrp="1" noChangeAspect="1"/>
          </p:cNvPicPr>
          <p:nvPr>
            <p:ph idx="1"/>
          </p:nvPr>
        </p:nvPicPr>
        <p:blipFill>
          <a:blip r:embed="rId2" cstate="print"/>
          <a:stretch>
            <a:fillRect/>
          </a:stretch>
        </p:blipFill>
        <p:spPr>
          <a:xfrm>
            <a:off x="685800" y="1066800"/>
            <a:ext cx="8153400" cy="56388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Experiment with the Actual System vs. Experiment with a Model of the System</a:t>
            </a:r>
            <a:endParaRPr lang="en-US" dirty="0"/>
          </a:p>
        </p:txBody>
      </p:sp>
      <p:sp>
        <p:nvSpPr>
          <p:cNvPr id="3" name="Content Placeholder 2"/>
          <p:cNvSpPr>
            <a:spLocks noGrp="1"/>
          </p:cNvSpPr>
          <p:nvPr>
            <p:ph idx="1"/>
          </p:nvPr>
        </p:nvSpPr>
        <p:spPr>
          <a:xfrm>
            <a:off x="457200" y="1905000"/>
            <a:ext cx="8229600" cy="4221163"/>
          </a:xfrm>
        </p:spPr>
        <p:txBody>
          <a:bodyPr>
            <a:normAutofit lnSpcReduction="10000"/>
          </a:bodyPr>
          <a:lstStyle/>
          <a:p>
            <a:pPr algn="just"/>
            <a:r>
              <a:rPr lang="en-US" dirty="0"/>
              <a:t>If it is possible (and cost-effective) to alter the system physically and then let it operate under the new conditions, it is probably desirable to do so, for in this case there is no question about whether what we study is valid.</a:t>
            </a:r>
          </a:p>
          <a:p>
            <a:pPr algn="just"/>
            <a:r>
              <a:rPr lang="en-US" dirty="0"/>
              <a:t>However, it is rarely feasible to do this, because such an experiment would often be too costly or too disruptive to the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For example, a bank may be contemplating reducing the number of tellers to decrease costs, but actually trying this could lead to long customer delays and alienation.</a:t>
            </a:r>
          </a:p>
          <a:p>
            <a:pPr algn="just"/>
            <a:r>
              <a:rPr lang="en-US" dirty="0"/>
              <a:t>In another way, the “system” might not even exist, but we nevertheless want to study it in its various proposed alternative configurations to see how it should be built in the first place..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Physical Model vs. Mathematical Model</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To most people, the word “model” evokes images of clay cars in wind tunnels, cockpits disconnected from their airplanes to be used in pilot training, or miniature supertankers scurrying about in a swimming pool.</a:t>
            </a:r>
          </a:p>
          <a:p>
            <a:pPr algn="just"/>
            <a:r>
              <a:rPr lang="en-US" dirty="0"/>
              <a:t>More examples include tabletop scale models of material-handling systems, and in at least one case a full-scale physical model of a fast-food restaurant with real (and presumably hungry) humans.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a:bodyPr>
          <a:lstStyle/>
          <a:p>
            <a:pPr algn="just"/>
            <a:r>
              <a:rPr lang="en-US" dirty="0"/>
              <a:t>But the vast majority of models built for such purposes are mathematical, representing a system in terms of logical and quantitative relationships.</a:t>
            </a:r>
          </a:p>
          <a:p>
            <a:pPr algn="just"/>
            <a:r>
              <a:rPr lang="en-US" dirty="0"/>
              <a:t>That system are then manipulated and changed to see how the model reacts, and thus how the system would work in reality.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Ways to Study a System</a:t>
            </a:r>
          </a:p>
        </p:txBody>
      </p:sp>
      <p:pic>
        <p:nvPicPr>
          <p:cNvPr id="4" name="Content Placeholder 3" descr="C1P1.jpg"/>
          <p:cNvPicPr>
            <a:picLocks noGrp="1" noChangeAspect="1"/>
          </p:cNvPicPr>
          <p:nvPr>
            <p:ph idx="1"/>
          </p:nvPr>
        </p:nvPicPr>
        <p:blipFill>
          <a:blip r:embed="rId2" cstate="print"/>
          <a:stretch>
            <a:fillRect/>
          </a:stretch>
        </p:blipFill>
        <p:spPr>
          <a:xfrm>
            <a:off x="685800" y="1066800"/>
            <a:ext cx="8153400" cy="5638800"/>
          </a:xfrm>
        </p:spPr>
      </p:pic>
    </p:spTree>
    <p:extLst>
      <p:ext uri="{BB962C8B-B14F-4D97-AF65-F5344CB8AC3E}">
        <p14:creationId xmlns:p14="http://schemas.microsoft.com/office/powerpoint/2010/main" val="3605418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Analytical Solution vs. Simulation</a:t>
            </a:r>
            <a:endParaRPr lang="en-US" dirty="0"/>
          </a:p>
        </p:txBody>
      </p:sp>
      <p:sp>
        <p:nvSpPr>
          <p:cNvPr id="3" name="Content Placeholder 2"/>
          <p:cNvSpPr>
            <a:spLocks noGrp="1"/>
          </p:cNvSpPr>
          <p:nvPr>
            <p:ph idx="1"/>
          </p:nvPr>
        </p:nvSpPr>
        <p:spPr>
          <a:xfrm>
            <a:off x="457200" y="1371600"/>
            <a:ext cx="8229600" cy="5334000"/>
          </a:xfrm>
        </p:spPr>
        <p:txBody>
          <a:bodyPr>
            <a:normAutofit fontScale="92500" lnSpcReduction="10000"/>
          </a:bodyPr>
          <a:lstStyle/>
          <a:p>
            <a:pPr algn="just"/>
            <a:r>
              <a:rPr lang="en-US" dirty="0"/>
              <a:t>If the model is simple enough, it may be possible to work with its relationships and quantities to get an exact, mathematical model.</a:t>
            </a:r>
          </a:p>
          <a:p>
            <a:pPr lvl="1" algn="just"/>
            <a:r>
              <a:rPr lang="en-US" dirty="0"/>
              <a:t>y = m x + c</a:t>
            </a:r>
          </a:p>
          <a:p>
            <a:pPr algn="just"/>
            <a:r>
              <a:rPr lang="en-US" dirty="0"/>
              <a:t>However, many systems are highly complex, so that valid mathematical models of them are themselves highly complex, precluding any possibility of an </a:t>
            </a:r>
            <a:r>
              <a:rPr lang="en-US" b="1" i="1" dirty="0"/>
              <a:t>analytical solution</a:t>
            </a:r>
            <a:r>
              <a:rPr lang="en-US" dirty="0"/>
              <a:t>.</a:t>
            </a:r>
          </a:p>
          <a:p>
            <a:pPr algn="just"/>
            <a:r>
              <a:rPr lang="en-US" dirty="0"/>
              <a:t>In this case, the model must be studied by means of simulation, i.e., </a:t>
            </a:r>
            <a:r>
              <a:rPr lang="en-US" b="1" i="1" dirty="0"/>
              <a:t>numerically exercising the model for the inputs in question to see how they affect the performance</a:t>
            </a:r>
            <a:r>
              <a:rPr lang="en-US"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We now classify simulation models along three different dimensions:</a:t>
            </a:r>
          </a:p>
          <a:p>
            <a:pPr algn="just"/>
            <a:r>
              <a:rPr lang="en-US" b="1" dirty="0"/>
              <a:t>Static vs. Dynamic Simulation Models:</a:t>
            </a:r>
          </a:p>
          <a:p>
            <a:pPr lvl="1" algn="just"/>
            <a:r>
              <a:rPr lang="en-US" dirty="0"/>
              <a:t>A static simulation model is a representation of a system at a particular time, or one that may be used to represent a system in which time simply plays no role.</a:t>
            </a:r>
          </a:p>
          <a:p>
            <a:pPr lvl="1" algn="just"/>
            <a:r>
              <a:rPr lang="en-US" dirty="0"/>
              <a:t>On the other hand, a dynamic simulation model represents a system as it evolves over time, such as a conveyor system in a factory.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990600"/>
            <a:ext cx="8229600" cy="5562600"/>
          </a:xfrm>
        </p:spPr>
        <p:txBody>
          <a:bodyPr>
            <a:normAutofit fontScale="92500" lnSpcReduction="10000"/>
          </a:bodyPr>
          <a:lstStyle/>
          <a:p>
            <a:pPr algn="just"/>
            <a:r>
              <a:rPr lang="en-US" b="1" dirty="0"/>
              <a:t>Deterministic vs. Stochastic Simulation Models:</a:t>
            </a:r>
          </a:p>
          <a:p>
            <a:pPr lvl="1" algn="just"/>
            <a:r>
              <a:rPr lang="en-US" dirty="0"/>
              <a:t>If a simulation model does not contain any probabilistic (i.e., random) components, it is called deterministic…</a:t>
            </a:r>
          </a:p>
          <a:p>
            <a:pPr lvl="1" algn="just"/>
            <a:r>
              <a:rPr lang="en-US" dirty="0"/>
              <a:t>In deterministic models, the output is “determined” once the set of input quantities and relationships in the model have been specified.</a:t>
            </a:r>
          </a:p>
          <a:p>
            <a:pPr lvl="1" algn="just"/>
            <a:r>
              <a:rPr lang="en-US" dirty="0"/>
              <a:t>Many systems, however, must be modeled as having at least some random input components, and these give rise to stochastic simulation models.</a:t>
            </a:r>
          </a:p>
          <a:p>
            <a:pPr lvl="1" algn="just"/>
            <a:r>
              <a:rPr lang="en-US" dirty="0"/>
              <a:t>Most </a:t>
            </a:r>
            <a:r>
              <a:rPr lang="en-US" dirty="0" err="1"/>
              <a:t>queueing</a:t>
            </a:r>
            <a:r>
              <a:rPr lang="en-US" dirty="0"/>
              <a:t> systems are modeled stochastically. Stochastic simulation models produce output that is itself random, and must therefore be treated as only an estimate of the true characteristics of the model.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fr-FR" b="1" dirty="0" err="1"/>
              <a:t>Continuous</a:t>
            </a:r>
            <a:r>
              <a:rPr lang="fr-FR" b="1" dirty="0"/>
              <a:t> vs. </a:t>
            </a:r>
            <a:r>
              <a:rPr lang="fr-FR" b="1" dirty="0" err="1"/>
              <a:t>Discrete</a:t>
            </a:r>
            <a:r>
              <a:rPr lang="fr-FR" b="1" dirty="0"/>
              <a:t> Simulation </a:t>
            </a:r>
            <a:r>
              <a:rPr lang="fr-FR" b="1" dirty="0" err="1"/>
              <a:t>Models</a:t>
            </a:r>
            <a:r>
              <a:rPr lang="fr-FR" b="1" dirty="0"/>
              <a:t>:</a:t>
            </a:r>
          </a:p>
          <a:p>
            <a:pPr algn="just"/>
            <a:r>
              <a:rPr lang="en-US" dirty="0"/>
              <a:t>It should be mentioned that a discrete model is not always used to model a discrete system, and vice versa.</a:t>
            </a:r>
            <a:endParaRPr lang="fr-FR"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DISCRETE-EVENT SIMULATION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Discrete-event simulation concerns the modeling of a system as it evolves over time by a representation in which the state variables change instantaneously at separate points in time.</a:t>
            </a:r>
          </a:p>
          <a:p>
            <a:pPr algn="just"/>
            <a:r>
              <a:rPr lang="en-US" dirty="0"/>
              <a:t>Although discrete-event simulation could conceptually be done by hand calculations, the amount of data that must be stored and manipulated for most real-world systems dictates that discrete-event simulations be done on a digital computer.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Consider a service facility with a single server—e.g., a one-operator barbershop or an information desk at an airport—for which we would like to estimate the (expected) average delay in queue (line) of arriving customers, where the delay in queue is the length of the time interval from his arrival at the facility to he begins being served.</a:t>
            </a:r>
          </a:p>
          <a:p>
            <a:pPr algn="just"/>
            <a:r>
              <a:rPr lang="en-US" dirty="0"/>
              <a:t>For the objective of estimating the average delay of a customer, the state variables for a discrete-event simulation model of the facility would be the status of the server, i.e., either idle or busy, the number of customers waiting in queue to be served (if any), and the time of arrival of each person waiting in queue.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Components and Organization of a Discrete-Event Simulation Model</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t>System state:</a:t>
            </a:r>
            <a:r>
              <a:rPr lang="en-US" dirty="0"/>
              <a:t> The collection of state variables necessary to describe the system at a particular time</a:t>
            </a:r>
          </a:p>
          <a:p>
            <a:pPr algn="just"/>
            <a:r>
              <a:rPr lang="en-US" b="1" dirty="0"/>
              <a:t>Simulation clock:</a:t>
            </a:r>
            <a:r>
              <a:rPr lang="en-US" dirty="0"/>
              <a:t> A variable giving the current value of simulated time</a:t>
            </a:r>
          </a:p>
          <a:p>
            <a:pPr algn="just"/>
            <a:r>
              <a:rPr lang="en-US" b="1" dirty="0"/>
              <a:t>Event list:</a:t>
            </a:r>
            <a:r>
              <a:rPr lang="en-US" dirty="0"/>
              <a:t> A list containing the next time when each type of event will occur</a:t>
            </a:r>
          </a:p>
          <a:p>
            <a:pPr algn="just"/>
            <a:r>
              <a:rPr lang="en-US" b="1" dirty="0"/>
              <a:t>Statistical counters:</a:t>
            </a:r>
            <a:r>
              <a:rPr lang="en-US" dirty="0"/>
              <a:t> Variables used for storing statistical information about system performance</a:t>
            </a:r>
          </a:p>
          <a:p>
            <a:pPr algn="just"/>
            <a:r>
              <a:rPr lang="en-US" b="1" dirty="0"/>
              <a:t>Initialization routine:</a:t>
            </a:r>
            <a:r>
              <a:rPr lang="en-US" dirty="0"/>
              <a:t> A subprogram to initialize the simulation model at time 0</a:t>
            </a:r>
          </a:p>
          <a:p>
            <a:pPr algn="just"/>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Timing routine:</a:t>
            </a:r>
            <a:r>
              <a:rPr lang="en-US" dirty="0"/>
              <a:t> A subprogram that determines the next event from the event list and then advances the simulation clock to the time when that event is to occur</a:t>
            </a:r>
          </a:p>
          <a:p>
            <a:pPr algn="just"/>
            <a:r>
              <a:rPr lang="en-US" b="1" dirty="0"/>
              <a:t>Event routine:</a:t>
            </a:r>
            <a:r>
              <a:rPr lang="en-US" dirty="0"/>
              <a:t> A subprogram that updates the system state when a particular type of event occurs</a:t>
            </a:r>
          </a:p>
          <a:p>
            <a:pPr algn="just"/>
            <a:r>
              <a:rPr lang="en-US" b="1" dirty="0"/>
              <a:t>Library routines:</a:t>
            </a:r>
            <a:r>
              <a:rPr lang="en-US" dirty="0"/>
              <a:t> A set of subprograms used to generate random observations from probability distributions that were determined as part of the simulation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1P2.jpg"/>
          <p:cNvPicPr>
            <a:picLocks noGrp="1" noChangeAspect="1"/>
          </p:cNvPicPr>
          <p:nvPr>
            <p:ph idx="1"/>
          </p:nvPr>
        </p:nvPicPr>
        <p:blipFill>
          <a:blip r:embed="rId2" cstate="print"/>
          <a:stretch>
            <a:fillRect/>
          </a:stretch>
        </p:blipFill>
        <p:spPr>
          <a:xfrm>
            <a:off x="22934" y="0"/>
            <a:ext cx="9044866" cy="63246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A system is a well-defined collection of entities. Entities are characterized by data values called attributes, and these attributes are part of the system state for a discrete-event simulation model.</a:t>
            </a:r>
          </a:p>
          <a:p>
            <a:pPr algn="just"/>
            <a:r>
              <a:rPr lang="en-US" dirty="0"/>
              <a:t>The server has the attribute “server status” (busy or idle), and the customers waiting in queue have the attribute “time of arrival.” (The number of customers in the queue might also be considered an attribute of the server.)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SIMULATION OF A SINGLE-SERVER QUEUEING SYSTEM</a:t>
            </a:r>
            <a:endParaRPr lang="en-US" dirty="0"/>
          </a:p>
        </p:txBody>
      </p:sp>
      <p:sp>
        <p:nvSpPr>
          <p:cNvPr id="3" name="Content Placeholder 2"/>
          <p:cNvSpPr>
            <a:spLocks noGrp="1"/>
          </p:cNvSpPr>
          <p:nvPr>
            <p:ph idx="1"/>
          </p:nvPr>
        </p:nvSpPr>
        <p:spPr/>
        <p:txBody>
          <a:bodyPr>
            <a:normAutofit/>
          </a:bodyPr>
          <a:lstStyle/>
          <a:p>
            <a:pPr algn="just"/>
            <a:r>
              <a:rPr lang="en-US" dirty="0"/>
              <a:t>We now show in detail how to simulate a single-server </a:t>
            </a:r>
            <a:r>
              <a:rPr lang="en-US" dirty="0" err="1"/>
              <a:t>queueing</a:t>
            </a:r>
            <a:r>
              <a:rPr lang="en-US" dirty="0"/>
              <a:t> system such as a one-operator barbershop.</a:t>
            </a:r>
          </a:p>
          <a:p>
            <a:pPr algn="just"/>
            <a:r>
              <a:rPr lang="en-US" dirty="0"/>
              <a:t>Although this system seems very simple compared with those usually of real interest, how it is simulated is actually quite representative of the operation of simulations of great complexity.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Statement</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lgn="just"/>
            <a:r>
              <a:rPr lang="en-US" dirty="0"/>
              <a:t>Consider a single-server </a:t>
            </a:r>
            <a:r>
              <a:rPr lang="en-US" dirty="0" err="1"/>
              <a:t>queueing</a:t>
            </a:r>
            <a:r>
              <a:rPr lang="en-US" dirty="0"/>
              <a:t> system (see the next Figure) for which the </a:t>
            </a:r>
            <a:r>
              <a:rPr lang="en-US" dirty="0" err="1"/>
              <a:t>interarrival</a:t>
            </a:r>
            <a:r>
              <a:rPr lang="en-US" dirty="0"/>
              <a:t> times A</a:t>
            </a:r>
            <a:r>
              <a:rPr lang="en-US" baseline="-25000" dirty="0"/>
              <a:t>1</a:t>
            </a:r>
            <a:r>
              <a:rPr lang="en-US" dirty="0"/>
              <a:t>, A</a:t>
            </a:r>
            <a:r>
              <a:rPr lang="en-US" baseline="-25000" dirty="0"/>
              <a:t>2</a:t>
            </a:r>
            <a:r>
              <a:rPr lang="en-US" dirty="0"/>
              <a:t>, . . . are independent and identically distributed (IID) random variables.</a:t>
            </a:r>
          </a:p>
          <a:p>
            <a:pPr algn="just"/>
            <a:r>
              <a:rPr lang="en-US" dirty="0"/>
              <a:t>“Identically distributed” means that the </a:t>
            </a:r>
            <a:r>
              <a:rPr lang="en-US" dirty="0" err="1"/>
              <a:t>interarrival</a:t>
            </a:r>
            <a:r>
              <a:rPr lang="en-US" dirty="0"/>
              <a:t> times have the same probability distribution.</a:t>
            </a:r>
          </a:p>
          <a:p>
            <a:pPr algn="just"/>
            <a:r>
              <a:rPr lang="en-US" dirty="0"/>
              <a:t>A customer who arrives and finds the server idle enters service immediately, and the service times S</a:t>
            </a:r>
            <a:r>
              <a:rPr lang="en-US" baseline="-25000" dirty="0"/>
              <a:t>1</a:t>
            </a:r>
            <a:r>
              <a:rPr lang="en-US" dirty="0"/>
              <a:t>, S</a:t>
            </a:r>
            <a:r>
              <a:rPr lang="en-US" baseline="-25000" dirty="0"/>
              <a:t>2</a:t>
            </a:r>
            <a:r>
              <a:rPr lang="en-US" dirty="0"/>
              <a:t>, . . . of the successive customers are IID random variables that are independent of the </a:t>
            </a:r>
            <a:r>
              <a:rPr lang="en-US" dirty="0" err="1"/>
              <a:t>interarrival</a:t>
            </a:r>
            <a:r>
              <a:rPr lang="en-US" dirty="0"/>
              <a:t> times.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1P3.jpg"/>
          <p:cNvPicPr>
            <a:picLocks noGrp="1" noChangeAspect="1"/>
          </p:cNvPicPr>
          <p:nvPr>
            <p:ph idx="1"/>
          </p:nvPr>
        </p:nvPicPr>
        <p:blipFill>
          <a:blip r:embed="rId2" cstate="print"/>
          <a:stretch>
            <a:fillRect/>
          </a:stretch>
        </p:blipFill>
        <p:spPr>
          <a:xfrm>
            <a:off x="2743200" y="609600"/>
            <a:ext cx="3733800" cy="5867400"/>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219200"/>
            <a:ext cx="8229600" cy="5257800"/>
          </a:xfrm>
        </p:spPr>
        <p:txBody>
          <a:bodyPr>
            <a:normAutofit fontScale="92500" lnSpcReduction="20000"/>
          </a:bodyPr>
          <a:lstStyle/>
          <a:p>
            <a:pPr algn="just"/>
            <a:r>
              <a:rPr lang="en-US" dirty="0"/>
              <a:t>A customer who arrives and finds the server busy joins the end of a single queue. Upon completing service for a customer, the server chooses a customer from the queue (if any) in a first-in, first out (FIFO) manner.</a:t>
            </a:r>
          </a:p>
          <a:p>
            <a:pPr algn="just"/>
            <a:r>
              <a:rPr lang="en-US" dirty="0"/>
              <a:t>The simulation will begin in the “empty-and-idle” state; i.e., no customers are present and the server is idle.</a:t>
            </a:r>
          </a:p>
          <a:p>
            <a:pPr algn="just"/>
            <a:r>
              <a:rPr lang="en-US" dirty="0"/>
              <a:t>At time 0, we will begin waiting for the arrival of the first customer, which will occur after the first </a:t>
            </a:r>
            <a:r>
              <a:rPr lang="en-US" dirty="0" err="1"/>
              <a:t>interarrival</a:t>
            </a:r>
            <a:r>
              <a:rPr lang="en-US" dirty="0"/>
              <a:t> time, A</a:t>
            </a:r>
            <a:r>
              <a:rPr lang="en-US" baseline="-25000" dirty="0"/>
              <a:t>1,</a:t>
            </a:r>
            <a:r>
              <a:rPr lang="en-US" dirty="0"/>
              <a:t> rather than at time 0 (which would be a possibly valid, but different, modeling assumption).</a:t>
            </a:r>
            <a:endParaRPr lang="en-US" baseline="-25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We wish to simulate this system until a </a:t>
            </a:r>
            <a:r>
              <a:rPr lang="en-US" b="1" dirty="0"/>
              <a:t>fixed number (</a:t>
            </a:r>
            <a:r>
              <a:rPr lang="en-US" b="1" i="1" dirty="0"/>
              <a:t>n</a:t>
            </a:r>
            <a:r>
              <a:rPr lang="en-US" b="1" dirty="0"/>
              <a:t>) of customers have completed their delays</a:t>
            </a:r>
            <a:r>
              <a:rPr lang="en-US" dirty="0"/>
              <a:t> in queue.</a:t>
            </a:r>
          </a:p>
          <a:p>
            <a:pPr algn="just"/>
            <a:r>
              <a:rPr lang="en-US" dirty="0"/>
              <a:t>Note that the time the simulation ends is thus a random variable, depending on the observed values for the </a:t>
            </a:r>
            <a:r>
              <a:rPr lang="en-US" dirty="0" err="1"/>
              <a:t>interarrival</a:t>
            </a:r>
            <a:r>
              <a:rPr lang="en-US" dirty="0"/>
              <a:t> and service-time random variables.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To measure the performance of this system, we will look at estimates of three quantities. First, we will estimate the expected average delay in queue of the </a:t>
            </a:r>
            <a:r>
              <a:rPr lang="en-US" i="1" dirty="0"/>
              <a:t>n</a:t>
            </a:r>
            <a:r>
              <a:rPr lang="en-US" dirty="0"/>
              <a:t> customers </a:t>
            </a:r>
            <a:r>
              <a:rPr lang="en-US" b="1" dirty="0"/>
              <a:t>completing their delays </a:t>
            </a:r>
            <a:r>
              <a:rPr lang="en-US" dirty="0"/>
              <a:t>during the simulation; we denote this quantity by </a:t>
            </a:r>
            <a:r>
              <a:rPr lang="en-US" i="1" dirty="0"/>
              <a:t>d(n).</a:t>
            </a:r>
          </a:p>
          <a:p>
            <a:pPr algn="just"/>
            <a:r>
              <a:rPr lang="en-US" dirty="0"/>
              <a:t>The word “expected” in the definition of </a:t>
            </a:r>
            <a:r>
              <a:rPr lang="en-US" i="1" dirty="0"/>
              <a:t>d(n)</a:t>
            </a:r>
            <a:r>
              <a:rPr lang="en-US" dirty="0"/>
              <a:t> means this: on a given run of the simulation, the average delay observed of the </a:t>
            </a:r>
            <a:r>
              <a:rPr lang="en-US" i="1" dirty="0"/>
              <a:t>n</a:t>
            </a:r>
            <a:r>
              <a:rPr lang="en-US" dirty="0"/>
              <a:t> customers depends on the interarrival and service-time random variables.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83162"/>
          </a:xfrm>
        </p:spPr>
        <p:txBody>
          <a:bodyPr>
            <a:normAutofit fontScale="92500" lnSpcReduction="20000"/>
          </a:bodyPr>
          <a:lstStyle/>
          <a:p>
            <a:pPr algn="just"/>
            <a:r>
              <a:rPr lang="en-US" dirty="0"/>
              <a:t>On another run of the simulation (or on a different day for the real system) there would probably be arrivals at different times, and the service times required would also be different; this would give a different value for the average of the </a:t>
            </a:r>
            <a:r>
              <a:rPr lang="en-US" i="1" dirty="0"/>
              <a:t>n</a:t>
            </a:r>
            <a:r>
              <a:rPr lang="en-US" dirty="0"/>
              <a:t> delays.</a:t>
            </a:r>
          </a:p>
          <a:p>
            <a:pPr algn="just"/>
            <a:r>
              <a:rPr lang="en-US" dirty="0"/>
              <a:t>Thus, the average delay on a given run of the simulation is properly regarded as a random variable itself.</a:t>
            </a:r>
          </a:p>
          <a:p>
            <a:pPr algn="just"/>
            <a:r>
              <a:rPr lang="en-US" dirty="0"/>
              <a:t>From a single run of the simulation resulting in customer delays </a:t>
            </a:r>
            <a:r>
              <a:rPr lang="en-US" i="1" dirty="0"/>
              <a:t>D</a:t>
            </a:r>
            <a:r>
              <a:rPr lang="en-US" baseline="-25000" dirty="0"/>
              <a:t>1</a:t>
            </a:r>
            <a:r>
              <a:rPr lang="en-US" i="1" dirty="0"/>
              <a:t>, D</a:t>
            </a:r>
            <a:r>
              <a:rPr lang="en-US" baseline="-25000" dirty="0"/>
              <a:t>2</a:t>
            </a:r>
            <a:r>
              <a:rPr lang="en-US" i="1" dirty="0"/>
              <a:t>, . . . , </a:t>
            </a:r>
            <a:r>
              <a:rPr lang="en-US" i="1" dirty="0" err="1"/>
              <a:t>D</a:t>
            </a:r>
            <a:r>
              <a:rPr lang="en-US" baseline="-25000" dirty="0" err="1"/>
              <a:t>n</a:t>
            </a:r>
            <a:r>
              <a:rPr lang="en-US" i="1" dirty="0"/>
              <a:t>, an obvious </a:t>
            </a:r>
            <a:r>
              <a:rPr lang="en-US" dirty="0"/>
              <a:t>estimator of </a:t>
            </a:r>
            <a:r>
              <a:rPr lang="en-US" i="1" dirty="0"/>
              <a:t>d(n)</a:t>
            </a:r>
            <a:r>
              <a:rPr lang="en-US" dirty="0"/>
              <a:t> is: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r>
              <a:rPr lang="en-US" dirty="0"/>
              <a:t>which is just the average of the </a:t>
            </a:r>
            <a:r>
              <a:rPr lang="en-US" i="1" dirty="0"/>
              <a:t>n D</a:t>
            </a:r>
            <a:r>
              <a:rPr lang="en-US" baseline="-25000" dirty="0"/>
              <a:t>i</a:t>
            </a:r>
            <a:r>
              <a:rPr lang="en-US" dirty="0"/>
              <a:t>’s that were observed in the simulation.</a:t>
            </a:r>
          </a:p>
          <a:p>
            <a:endParaRPr lang="en-US" dirty="0"/>
          </a:p>
        </p:txBody>
      </p:sp>
      <p:pic>
        <p:nvPicPr>
          <p:cNvPr id="5" name="Picture 4" descr="C1P4.jpg"/>
          <p:cNvPicPr>
            <a:picLocks noChangeAspect="1"/>
          </p:cNvPicPr>
          <p:nvPr/>
        </p:nvPicPr>
        <p:blipFill>
          <a:blip r:embed="rId2" cstate="print"/>
          <a:stretch>
            <a:fillRect/>
          </a:stretch>
        </p:blipFill>
        <p:spPr>
          <a:xfrm>
            <a:off x="2819400" y="1524000"/>
            <a:ext cx="2786063" cy="21145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While an estimate of </a:t>
            </a:r>
            <a:r>
              <a:rPr lang="en-US" i="1" dirty="0"/>
              <a:t>d(n)</a:t>
            </a:r>
            <a:r>
              <a:rPr lang="en-US" dirty="0"/>
              <a:t> gives information about system performance from the customers’ point of view, the management of such a system may want different information. </a:t>
            </a:r>
          </a:p>
          <a:p>
            <a:pPr algn="just"/>
            <a:r>
              <a:rPr lang="en-US" dirty="0"/>
              <a:t>Since most real simulations are quite complex and may be time-consuming to run, we usually collect many output measures of performance, describing different aspects of system behavior.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3012-8CB1-F2BC-7F1E-EA2F65878F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E9AC08-E036-F718-B17C-E45DB3803C5D}"/>
              </a:ext>
            </a:extLst>
          </p:cNvPr>
          <p:cNvSpPr>
            <a:spLocks noGrp="1"/>
          </p:cNvSpPr>
          <p:nvPr>
            <p:ph idx="1"/>
          </p:nvPr>
        </p:nvSpPr>
        <p:spPr/>
        <p:txBody>
          <a:bodyPr/>
          <a:lstStyle/>
          <a:p>
            <a:r>
              <a:rPr lang="en-US" dirty="0"/>
              <a:t>One such measure for our simple model here is the expected average number of customers in the queue (but not being served), denoted by </a:t>
            </a:r>
            <a:r>
              <a:rPr lang="en-US" i="1" dirty="0"/>
              <a:t>q(n)…</a:t>
            </a:r>
            <a:endParaRPr lang="en-US" dirty="0"/>
          </a:p>
        </p:txBody>
      </p:sp>
    </p:spTree>
    <p:extLst>
      <p:ext uri="{BB962C8B-B14F-4D97-AF65-F5344CB8AC3E}">
        <p14:creationId xmlns:p14="http://schemas.microsoft.com/office/powerpoint/2010/main" val="781267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This is a different kind of “average” than the average delay in queue, because it is taken over (continuous) time, rather than over customers (being discrete).</a:t>
            </a:r>
          </a:p>
          <a:p>
            <a:pPr algn="just"/>
            <a:r>
              <a:rPr lang="en-US" dirty="0"/>
              <a:t>Thus, we need to define what is meant by this time-average number of customers in queue.</a:t>
            </a:r>
          </a:p>
          <a:p>
            <a:pPr algn="just"/>
            <a:r>
              <a:rPr lang="en-US" dirty="0"/>
              <a:t>To do this, let </a:t>
            </a:r>
            <a:r>
              <a:rPr lang="en-US" i="1" dirty="0"/>
              <a:t>Q(t)</a:t>
            </a:r>
            <a:r>
              <a:rPr lang="en-US" dirty="0"/>
              <a:t> denote the number of customers in queue at time </a:t>
            </a:r>
            <a:r>
              <a:rPr lang="en-US" i="1" dirty="0"/>
              <a:t>t,</a:t>
            </a:r>
            <a:r>
              <a:rPr lang="en-US" dirty="0"/>
              <a:t> for any real number </a:t>
            </a:r>
            <a:r>
              <a:rPr lang="en-US" i="1" dirty="0"/>
              <a:t>t </a:t>
            </a:r>
            <a:r>
              <a:rPr lang="en-US" dirty="0"/>
              <a:t>&gt;= 0, and let </a:t>
            </a:r>
            <a:r>
              <a:rPr lang="en-US" i="1" dirty="0"/>
              <a:t>T(n)</a:t>
            </a:r>
            <a:r>
              <a:rPr lang="en-US" dirty="0"/>
              <a:t> be the time required to observe our </a:t>
            </a:r>
            <a:r>
              <a:rPr lang="en-US" i="1" dirty="0"/>
              <a:t>n</a:t>
            </a:r>
            <a:r>
              <a:rPr lang="en-US" dirty="0"/>
              <a:t> delays in queue.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latin typeface="TimesLTStd-Roman"/>
              </a:rPr>
              <a:t>Then for any time </a:t>
            </a:r>
            <a:r>
              <a:rPr lang="en-US" i="1" dirty="0">
                <a:latin typeface="TimesLTStd-Italic"/>
              </a:rPr>
              <a:t>t </a:t>
            </a:r>
            <a:r>
              <a:rPr lang="en-US" dirty="0">
                <a:latin typeface="TimesLTStd-Roman"/>
              </a:rPr>
              <a:t>between 0 and </a:t>
            </a:r>
            <a:r>
              <a:rPr lang="en-US" i="1" dirty="0">
                <a:latin typeface="TimesLTStd-Italic"/>
              </a:rPr>
              <a:t>T</a:t>
            </a:r>
            <a:r>
              <a:rPr lang="en-US" dirty="0">
                <a:latin typeface="TimesLTStd-Roman"/>
              </a:rPr>
              <a:t>(</a:t>
            </a:r>
            <a:r>
              <a:rPr lang="en-US" i="1" dirty="0">
                <a:latin typeface="TimesLTStd-Italic"/>
              </a:rPr>
              <a:t>n</a:t>
            </a:r>
            <a:r>
              <a:rPr lang="en-US" dirty="0">
                <a:latin typeface="TimesLTStd-Roman"/>
              </a:rPr>
              <a:t>), </a:t>
            </a:r>
            <a:r>
              <a:rPr lang="en-US" i="1" dirty="0">
                <a:latin typeface="TimesLTStd-Italic"/>
              </a:rPr>
              <a:t>Q</a:t>
            </a:r>
            <a:r>
              <a:rPr lang="en-US" dirty="0">
                <a:latin typeface="TimesLTStd-Roman"/>
              </a:rPr>
              <a:t>(</a:t>
            </a:r>
            <a:r>
              <a:rPr lang="en-US" i="1" dirty="0">
                <a:latin typeface="TimesLTStd-Italic"/>
              </a:rPr>
              <a:t>t</a:t>
            </a:r>
            <a:r>
              <a:rPr lang="en-US" dirty="0">
                <a:latin typeface="TimesLTStd-Roman"/>
              </a:rPr>
              <a:t>) is a nonnegative integer. Further, if we let </a:t>
            </a:r>
            <a:r>
              <a:rPr lang="en-US" i="1" dirty="0">
                <a:latin typeface="TimesLTStd-Italic"/>
              </a:rPr>
              <a:t>p </a:t>
            </a:r>
            <a:r>
              <a:rPr lang="en-US" dirty="0">
                <a:latin typeface="TimesLTStd-Italic"/>
              </a:rPr>
              <a:t>b</a:t>
            </a:r>
            <a:r>
              <a:rPr lang="en-US" dirty="0">
                <a:latin typeface="TimesLTStd-Roman"/>
              </a:rPr>
              <a:t>e the expected </a:t>
            </a:r>
            <a:r>
              <a:rPr lang="en-US" dirty="0">
                <a:latin typeface="TimesLTStd-Italic"/>
              </a:rPr>
              <a:t>proportion</a:t>
            </a:r>
            <a:r>
              <a:rPr lang="en-US" i="1" dirty="0">
                <a:latin typeface="TimesLTStd-Italic"/>
              </a:rPr>
              <a:t> </a:t>
            </a:r>
            <a:r>
              <a:rPr lang="en-US" dirty="0">
                <a:latin typeface="TimesLTStd-Roman"/>
              </a:rPr>
              <a:t>(which will be between 0 and 1) of the time that </a:t>
            </a:r>
            <a:r>
              <a:rPr lang="en-US" i="1" dirty="0">
                <a:latin typeface="TimesLTStd-Italic"/>
              </a:rPr>
              <a:t>Q</a:t>
            </a:r>
            <a:r>
              <a:rPr lang="en-US" dirty="0">
                <a:latin typeface="TimesLTStd-Roman"/>
              </a:rPr>
              <a:t>(</a:t>
            </a:r>
            <a:r>
              <a:rPr lang="en-US" i="1" dirty="0">
                <a:latin typeface="TimesLTStd-Italic"/>
              </a:rPr>
              <a:t>t</a:t>
            </a:r>
            <a:r>
              <a:rPr lang="en-US" dirty="0">
                <a:latin typeface="TimesLTStd-Roman"/>
              </a:rPr>
              <a:t>) is equal to </a:t>
            </a:r>
            <a:r>
              <a:rPr lang="en-US" i="1" dirty="0" err="1">
                <a:latin typeface="TimesLTStd-Italic"/>
              </a:rPr>
              <a:t>i</a:t>
            </a:r>
            <a:r>
              <a:rPr lang="en-US" dirty="0">
                <a:latin typeface="TimesLTStd-Roman"/>
              </a:rPr>
              <a:t>, then a reasonable definition of </a:t>
            </a:r>
            <a:r>
              <a:rPr lang="en-US" i="1" dirty="0">
                <a:latin typeface="TimesLTStd-Italic"/>
              </a:rPr>
              <a:t>q</a:t>
            </a:r>
            <a:r>
              <a:rPr lang="en-US" dirty="0">
                <a:latin typeface="TimesLTStd-Roman"/>
              </a:rPr>
              <a:t>(</a:t>
            </a:r>
            <a:r>
              <a:rPr lang="en-US" i="1" dirty="0">
                <a:latin typeface="TimesLTStd-Italic"/>
              </a:rPr>
              <a:t>n</a:t>
            </a:r>
            <a:r>
              <a:rPr lang="en-US" dirty="0">
                <a:latin typeface="TimesLTStd-Roman"/>
              </a:rPr>
              <a:t>) would be:</a:t>
            </a:r>
          </a:p>
          <a:p>
            <a:pPr algn="just"/>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4648200"/>
            <a:ext cx="2947987" cy="1152525"/>
          </a:xfrm>
          <a:prstGeom prst="rect">
            <a:avLst/>
          </a:prstGeom>
        </p:spPr>
      </p:pic>
    </p:spTree>
    <p:extLst>
      <p:ext uri="{BB962C8B-B14F-4D97-AF65-F5344CB8AC3E}">
        <p14:creationId xmlns:p14="http://schemas.microsoft.com/office/powerpoint/2010/main" val="1803663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just"/>
            <a:r>
              <a:rPr lang="en-US" dirty="0"/>
              <a:t>If we let </a:t>
            </a:r>
            <a:r>
              <a:rPr lang="en-US" i="1" dirty="0"/>
              <a:t>T</a:t>
            </a:r>
            <a:r>
              <a:rPr lang="en-US" baseline="-25000" dirty="0"/>
              <a:t>i</a:t>
            </a:r>
            <a:r>
              <a:rPr lang="en-US" i="1" dirty="0"/>
              <a:t> </a:t>
            </a:r>
            <a:r>
              <a:rPr lang="en-US" dirty="0"/>
              <a:t>be the total time during the simulation that the queue is of length </a:t>
            </a:r>
            <a:r>
              <a:rPr lang="en-US" i="1" dirty="0" err="1"/>
              <a:t>i</a:t>
            </a:r>
            <a:r>
              <a:rPr lang="en-US" dirty="0"/>
              <a:t>, then </a:t>
            </a:r>
            <a:r>
              <a:rPr lang="en-US" i="1" dirty="0"/>
              <a:t>T</a:t>
            </a:r>
            <a:r>
              <a:rPr lang="en-US" dirty="0"/>
              <a:t>(</a:t>
            </a:r>
            <a:r>
              <a:rPr lang="en-US" i="1" dirty="0"/>
              <a:t>n</a:t>
            </a:r>
            <a:r>
              <a:rPr lang="en-US" dirty="0"/>
              <a:t>) = </a:t>
            </a:r>
            <a:r>
              <a:rPr lang="en-US" i="1" dirty="0"/>
              <a:t>T</a:t>
            </a:r>
            <a:r>
              <a:rPr lang="en-US" baseline="-25000" dirty="0"/>
              <a:t>0</a:t>
            </a:r>
            <a:r>
              <a:rPr lang="en-US" dirty="0"/>
              <a:t> + </a:t>
            </a:r>
            <a:r>
              <a:rPr lang="en-US" i="1" dirty="0"/>
              <a:t>T</a:t>
            </a:r>
            <a:r>
              <a:rPr lang="en-US" baseline="-25000" dirty="0"/>
              <a:t>1</a:t>
            </a:r>
            <a:r>
              <a:rPr lang="en-US" dirty="0"/>
              <a:t> + </a:t>
            </a:r>
            <a:r>
              <a:rPr lang="en-US" i="1" dirty="0"/>
              <a:t>T</a:t>
            </a:r>
            <a:r>
              <a:rPr lang="en-US" baseline="-25000" dirty="0"/>
              <a:t>2</a:t>
            </a:r>
            <a:r>
              <a:rPr lang="en-US" dirty="0"/>
              <a:t> + ∙ ∙ ∙ and </a:t>
            </a:r>
            <a:r>
              <a:rPr lang="en-US" i="1" dirty="0"/>
              <a:t>pi </a:t>
            </a:r>
            <a:r>
              <a:rPr lang="en-US" dirty="0"/>
              <a:t>= </a:t>
            </a:r>
            <a:r>
              <a:rPr lang="en-US" i="1" dirty="0"/>
              <a:t>T</a:t>
            </a:r>
            <a:r>
              <a:rPr lang="en-US" baseline="-25000" dirty="0"/>
              <a:t>i</a:t>
            </a:r>
            <a:r>
              <a:rPr lang="en-US" dirty="0"/>
              <a:t>/</a:t>
            </a:r>
            <a:r>
              <a:rPr lang="en-US" i="1" dirty="0"/>
              <a:t>T</a:t>
            </a:r>
            <a:r>
              <a:rPr lang="en-US" dirty="0"/>
              <a:t>(</a:t>
            </a:r>
            <a:r>
              <a:rPr lang="en-US" i="1" dirty="0"/>
              <a:t>n</a:t>
            </a:r>
            <a:r>
              <a:rPr lang="en-US" dirty="0"/>
              <a:t>) so that we can rewrite the above equation as:</a:t>
            </a:r>
          </a:p>
          <a:p>
            <a:endParaRPr lang="en-US" dirty="0"/>
          </a:p>
          <a:p>
            <a:endParaRPr lang="en-US" dirty="0"/>
          </a:p>
        </p:txBody>
      </p:sp>
      <p:pic>
        <p:nvPicPr>
          <p:cNvPr id="5" name="Picture 4">
            <a:extLst>
              <a:ext uri="{FF2B5EF4-FFF2-40B4-BE49-F238E27FC236}">
                <a16:creationId xmlns:a16="http://schemas.microsoft.com/office/drawing/2014/main" id="{6C8FCD4D-8198-CFD5-D455-E5D14310D6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200" y="3717925"/>
            <a:ext cx="4191001" cy="2590800"/>
          </a:xfrm>
          <a:prstGeom prst="rect">
            <a:avLst/>
          </a:prstGeom>
        </p:spPr>
      </p:pic>
    </p:spTree>
    <p:extLst>
      <p:ext uri="{BB962C8B-B14F-4D97-AF65-F5344CB8AC3E}">
        <p14:creationId xmlns:p14="http://schemas.microsoft.com/office/powerpoint/2010/main" val="2769871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7EEC-854B-288A-3AC6-245FF41DFA4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E5C9B7F-0B20-D823-7252-067E6C4D339A}"/>
              </a:ext>
            </a:extLst>
          </p:cNvPr>
          <p:cNvSpPr>
            <a:spLocks noGrp="1"/>
          </p:cNvSpPr>
          <p:nvPr>
            <p:ph idx="1"/>
          </p:nvPr>
        </p:nvSpPr>
        <p:spPr/>
        <p:txBody>
          <a:bodyPr/>
          <a:lstStyle/>
          <a:p>
            <a:pPr algn="just"/>
            <a:r>
              <a:rPr lang="en-US" dirty="0"/>
              <a:t>The next figure illustrates a possible time path, or realization, of </a:t>
            </a:r>
            <a:r>
              <a:rPr lang="en-US" i="1" dirty="0"/>
              <a:t>Q</a:t>
            </a:r>
            <a:r>
              <a:rPr lang="en-US" dirty="0"/>
              <a:t>(</a:t>
            </a:r>
            <a:r>
              <a:rPr lang="en-US" i="1" dirty="0"/>
              <a:t>t</a:t>
            </a:r>
            <a:r>
              <a:rPr lang="en-US" dirty="0"/>
              <a:t>) for this system in the case of </a:t>
            </a:r>
            <a:r>
              <a:rPr lang="en-US" i="1" dirty="0"/>
              <a:t>n </a:t>
            </a:r>
            <a:r>
              <a:rPr lang="en-US" dirty="0"/>
              <a:t>= 6.</a:t>
            </a:r>
          </a:p>
          <a:p>
            <a:pPr algn="just"/>
            <a:r>
              <a:rPr lang="en-US" dirty="0"/>
              <a:t>Arrivals occur at times 0.4, 1.6, 2.1, 3.8, 4.0, 5.6, 5.8, and 7.2. Departures (service completions) occur at times 2.4, 3.1, 3.3, 4.9, and 8.6, and the simulation ends at time </a:t>
            </a:r>
            <a:r>
              <a:rPr lang="en-US" i="1" dirty="0"/>
              <a:t>T</a:t>
            </a:r>
            <a:r>
              <a:rPr lang="en-US" dirty="0"/>
              <a:t>(6) = 8.6.</a:t>
            </a:r>
          </a:p>
          <a:p>
            <a:pPr marL="0" indent="0" algn="just">
              <a:buNone/>
            </a:pPr>
            <a:endParaRPr lang="en-US" dirty="0"/>
          </a:p>
        </p:txBody>
      </p:sp>
    </p:spTree>
    <p:extLst>
      <p:ext uri="{BB962C8B-B14F-4D97-AF65-F5344CB8AC3E}">
        <p14:creationId xmlns:p14="http://schemas.microsoft.com/office/powerpoint/2010/main" val="1635410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26375" y="866191"/>
            <a:ext cx="7491249" cy="4525963"/>
          </a:xfrm>
        </p:spPr>
      </p:pic>
    </p:spTree>
    <p:extLst>
      <p:ext uri="{BB962C8B-B14F-4D97-AF65-F5344CB8AC3E}">
        <p14:creationId xmlns:p14="http://schemas.microsoft.com/office/powerpoint/2010/main" val="2380025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417638"/>
            <a:ext cx="8229600" cy="5059362"/>
          </a:xfrm>
        </p:spPr>
        <p:txBody>
          <a:bodyPr>
            <a:normAutofit fontScale="85000" lnSpcReduction="10000"/>
          </a:bodyPr>
          <a:lstStyle/>
          <a:p>
            <a:pPr algn="just"/>
            <a:r>
              <a:rPr lang="en-US" dirty="0"/>
              <a:t>Remember in looking at the previous figure that </a:t>
            </a:r>
            <a:r>
              <a:rPr lang="en-US" i="1" dirty="0"/>
              <a:t>Q</a:t>
            </a:r>
            <a:r>
              <a:rPr lang="en-US" dirty="0"/>
              <a:t>(</a:t>
            </a:r>
            <a:r>
              <a:rPr lang="en-US" i="1" dirty="0"/>
              <a:t>t</a:t>
            </a:r>
            <a:r>
              <a:rPr lang="en-US" dirty="0"/>
              <a:t>) does not count the customer in service (if any), so between times 0.4 and 1.6 there is one customer in the system being served, even though the queue is empty [</a:t>
            </a:r>
            <a:r>
              <a:rPr lang="en-US" i="1" dirty="0"/>
              <a:t>Q</a:t>
            </a:r>
            <a:r>
              <a:rPr lang="en-US" dirty="0"/>
              <a:t>(</a:t>
            </a:r>
            <a:r>
              <a:rPr lang="en-US" i="1" dirty="0"/>
              <a:t>t</a:t>
            </a:r>
            <a:r>
              <a:rPr lang="en-US" dirty="0"/>
              <a:t>) = 0].</a:t>
            </a:r>
          </a:p>
          <a:p>
            <a:pPr algn="just"/>
            <a:r>
              <a:rPr lang="en-US" dirty="0"/>
              <a:t>The same is true between times 3.1 and 3.3, between times 3.8 and 4.0, and between times 4.9 and 5.6. </a:t>
            </a:r>
          </a:p>
          <a:p>
            <a:pPr algn="just"/>
            <a:r>
              <a:rPr lang="en-US" dirty="0"/>
              <a:t>Between times 3.3 and 3.8, however, the system is empty of customers and the server is idle, as is obviously the case between times 0 and 0.4.</a:t>
            </a:r>
          </a:p>
          <a:p>
            <a:pPr algn="just"/>
            <a:r>
              <a:rPr lang="en-US" dirty="0"/>
              <a:t>To compute </a:t>
            </a:r>
            <a:r>
              <a:rPr lang="en-US" i="1" dirty="0"/>
              <a:t>q</a:t>
            </a:r>
            <a:r>
              <a:rPr lang="en-US" dirty="0"/>
              <a:t>(</a:t>
            </a:r>
            <a:r>
              <a:rPr lang="en-US" i="1" dirty="0"/>
              <a:t>n</a:t>
            </a:r>
            <a:r>
              <a:rPr lang="en-US" dirty="0"/>
              <a:t>), we must first compute the </a:t>
            </a:r>
            <a:r>
              <a:rPr lang="en-US" i="1" dirty="0"/>
              <a:t>T</a:t>
            </a:r>
            <a:r>
              <a:rPr lang="en-US" baseline="-25000" dirty="0"/>
              <a:t>i</a:t>
            </a:r>
            <a:r>
              <a:rPr lang="en-US" dirty="0"/>
              <a:t>’s over which </a:t>
            </a:r>
            <a:r>
              <a:rPr lang="en-US" i="1" dirty="0"/>
              <a:t>Q</a:t>
            </a:r>
            <a:r>
              <a:rPr lang="en-US" dirty="0"/>
              <a:t>(</a:t>
            </a:r>
            <a:r>
              <a:rPr lang="en-US" i="1" dirty="0"/>
              <a:t>t</a:t>
            </a:r>
            <a:r>
              <a:rPr lang="en-US" dirty="0"/>
              <a:t>) is equal to 0, 1, 2, and so on:</a:t>
            </a:r>
          </a:p>
        </p:txBody>
      </p:sp>
    </p:spTree>
    <p:extLst>
      <p:ext uri="{BB962C8B-B14F-4D97-AF65-F5344CB8AC3E}">
        <p14:creationId xmlns:p14="http://schemas.microsoft.com/office/powerpoint/2010/main" val="1573666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pPr algn="just"/>
            <a:r>
              <a:rPr lang="en-US" dirty="0"/>
              <a:t>and so our estimate of the time-average number in queue from this particular simulation run is </a:t>
            </a:r>
            <a:r>
              <a:rPr lang="en-US" i="1" dirty="0"/>
              <a:t>q</a:t>
            </a:r>
            <a:r>
              <a:rPr lang="en-US" dirty="0"/>
              <a:t>ˆ(6) = 9.9/8.6 = 1.15</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14054"/>
            <a:ext cx="9144000" cy="3307556"/>
          </a:xfrm>
          <a:prstGeom prst="rect">
            <a:avLst/>
          </a:prstGeom>
        </p:spPr>
      </p:pic>
    </p:spTree>
    <p:extLst>
      <p:ext uri="{BB962C8B-B14F-4D97-AF65-F5344CB8AC3E}">
        <p14:creationId xmlns:p14="http://schemas.microsoft.com/office/powerpoint/2010/main" val="2881312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BF826-3705-4864-A4C6-05C593375ADB}"/>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AF9BA2A6-363E-4E02-800F-6B1AB9A977FA}"/>
              </a:ext>
            </a:extLst>
          </p:cNvPr>
          <p:cNvSpPr>
            <a:spLocks noGrp="1"/>
          </p:cNvSpPr>
          <p:nvPr>
            <p:ph idx="1"/>
          </p:nvPr>
        </p:nvSpPr>
        <p:spPr/>
        <p:txBody>
          <a:bodyPr>
            <a:normAutofit fontScale="92500" lnSpcReduction="10000"/>
          </a:bodyPr>
          <a:lstStyle/>
          <a:p>
            <a:pPr algn="just"/>
            <a:r>
              <a:rPr lang="en-GB" dirty="0"/>
              <a:t>We shall now see how simulation can be used to compare alternative ordering policies for an inventory system.</a:t>
            </a:r>
          </a:p>
          <a:p>
            <a:pPr algn="just"/>
            <a:r>
              <a:rPr lang="en-US" dirty="0"/>
              <a:t>Problem Statement:</a:t>
            </a:r>
          </a:p>
          <a:p>
            <a:pPr lvl="1" algn="just"/>
            <a:r>
              <a:rPr lang="en-GB" dirty="0"/>
              <a:t>A company that sells a single product which is important enough to its customers would like to decide </a:t>
            </a:r>
            <a:r>
              <a:rPr lang="en-GB" b="1" dirty="0"/>
              <a:t>how many items it should have in inventory</a:t>
            </a:r>
            <a:r>
              <a:rPr lang="en-GB" dirty="0"/>
              <a:t> for each of the next n months (n is a fixed input parameter).</a:t>
            </a:r>
          </a:p>
          <a:p>
            <a:pPr lvl="1" algn="just"/>
            <a:r>
              <a:rPr lang="en-GB" dirty="0"/>
              <a:t>The times between demands are </a:t>
            </a:r>
            <a:r>
              <a:rPr lang="en-GB" b="1" i="1" dirty="0"/>
              <a:t>IID exponential random variables with a mean of 0.1 month</a:t>
            </a:r>
            <a:r>
              <a:rPr lang="en-GB" dirty="0"/>
              <a:t>.</a:t>
            </a:r>
            <a:endParaRPr lang="en-US" dirty="0"/>
          </a:p>
        </p:txBody>
      </p:sp>
    </p:spTree>
    <p:extLst>
      <p:ext uri="{BB962C8B-B14F-4D97-AF65-F5344CB8AC3E}">
        <p14:creationId xmlns:p14="http://schemas.microsoft.com/office/powerpoint/2010/main" val="3725484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3141-66EF-4056-8137-11F45FF942B1}"/>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71E3677-E92A-4434-94AE-C5F220E44C7F}"/>
              </a:ext>
            </a:extLst>
          </p:cNvPr>
          <p:cNvSpPr>
            <a:spLocks noGrp="1"/>
          </p:cNvSpPr>
          <p:nvPr>
            <p:ph idx="1"/>
          </p:nvPr>
        </p:nvSpPr>
        <p:spPr/>
        <p:txBody>
          <a:bodyPr/>
          <a:lstStyle/>
          <a:p>
            <a:r>
              <a:rPr lang="en-US" dirty="0"/>
              <a:t>Problem Statement:</a:t>
            </a:r>
          </a:p>
          <a:p>
            <a:pPr lvl="1" algn="just"/>
            <a:r>
              <a:rPr lang="en-GB" dirty="0"/>
              <a:t>The sizes of the demands, D, are random variables (independent of when the demands occur), with</a:t>
            </a:r>
            <a:endParaRPr lang="en-US" dirty="0"/>
          </a:p>
        </p:txBody>
      </p:sp>
      <p:pic>
        <p:nvPicPr>
          <p:cNvPr id="5" name="Picture 4">
            <a:extLst>
              <a:ext uri="{FF2B5EF4-FFF2-40B4-BE49-F238E27FC236}">
                <a16:creationId xmlns:a16="http://schemas.microsoft.com/office/drawing/2014/main" id="{1EDAD3DD-6961-4605-9590-0E0211FE88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3592640"/>
            <a:ext cx="4648201" cy="2530475"/>
          </a:xfrm>
          <a:prstGeom prst="rect">
            <a:avLst/>
          </a:prstGeom>
        </p:spPr>
      </p:pic>
    </p:spTree>
    <p:extLst>
      <p:ext uri="{BB962C8B-B14F-4D97-AF65-F5344CB8AC3E}">
        <p14:creationId xmlns:p14="http://schemas.microsoft.com/office/powerpoint/2010/main" val="3918669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3141-66EF-4056-8137-11F45FF942B1}"/>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71E3677-E92A-4434-94AE-C5F220E44C7F}"/>
              </a:ext>
            </a:extLst>
          </p:cNvPr>
          <p:cNvSpPr>
            <a:spLocks noGrp="1"/>
          </p:cNvSpPr>
          <p:nvPr>
            <p:ph idx="1"/>
          </p:nvPr>
        </p:nvSpPr>
        <p:spPr/>
        <p:txBody>
          <a:bodyPr>
            <a:normAutofit fontScale="92500" lnSpcReduction="20000"/>
          </a:bodyPr>
          <a:lstStyle/>
          <a:p>
            <a:pPr algn="just"/>
            <a:r>
              <a:rPr lang="en-US" dirty="0"/>
              <a:t>Problem Statement:</a:t>
            </a:r>
          </a:p>
          <a:p>
            <a:pPr lvl="1" algn="just"/>
            <a:r>
              <a:rPr lang="en-GB" b="1" dirty="0"/>
              <a:t>At the beginning of each month, the company reviews the inventory level</a:t>
            </a:r>
            <a:r>
              <a:rPr lang="en-GB" dirty="0"/>
              <a:t> and decides how many items to order from its supplier.</a:t>
            </a:r>
          </a:p>
          <a:p>
            <a:pPr lvl="1" algn="just"/>
            <a:r>
              <a:rPr lang="en-GB" dirty="0"/>
              <a:t>If the company orders Z items, it incurs a cost of </a:t>
            </a:r>
            <a:r>
              <a:rPr lang="en-GB" dirty="0" err="1"/>
              <a:t>K+iZ</a:t>
            </a:r>
            <a:r>
              <a:rPr lang="en-GB" dirty="0"/>
              <a:t>, where K = $32 is the setup cost and </a:t>
            </a:r>
            <a:r>
              <a:rPr lang="en-GB" dirty="0" err="1"/>
              <a:t>i</a:t>
            </a:r>
            <a:r>
              <a:rPr lang="en-GB" dirty="0"/>
              <a:t> = $3 is the incremental cost per item ordered (If Z = 0, no cost is incurred).</a:t>
            </a:r>
          </a:p>
          <a:p>
            <a:pPr lvl="1" algn="just"/>
            <a:r>
              <a:rPr lang="en-GB" dirty="0"/>
              <a:t>When an order is placed, the time required for it to arrive (called the delivery lag or lead time) is a random variable that is distributed uniformly between 0.5 and 1 month.</a:t>
            </a:r>
            <a:endParaRPr lang="en-US" dirty="0"/>
          </a:p>
        </p:txBody>
      </p:sp>
    </p:spTree>
    <p:extLst>
      <p:ext uri="{BB962C8B-B14F-4D97-AF65-F5344CB8AC3E}">
        <p14:creationId xmlns:p14="http://schemas.microsoft.com/office/powerpoint/2010/main" val="9006421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pic>
        <p:nvPicPr>
          <p:cNvPr id="5" name="Content Placeholder 4">
            <a:extLst>
              <a:ext uri="{FF2B5EF4-FFF2-40B4-BE49-F238E27FC236}">
                <a16:creationId xmlns:a16="http://schemas.microsoft.com/office/drawing/2014/main" id="{D2AD8631-ED2D-41DB-993B-076C628DF1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37263"/>
            <a:ext cx="8229600" cy="3926473"/>
          </a:xfrm>
        </p:spPr>
      </p:pic>
    </p:spTree>
    <p:extLst>
      <p:ext uri="{BB962C8B-B14F-4D97-AF65-F5344CB8AC3E}">
        <p14:creationId xmlns:p14="http://schemas.microsoft.com/office/powerpoint/2010/main" val="4191274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4BCB-5962-43EF-A80D-FBFC52191380}"/>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555D99BA-AEA4-4AAB-A98F-EDD08EC99DC0}"/>
              </a:ext>
            </a:extLst>
          </p:cNvPr>
          <p:cNvSpPr>
            <a:spLocks noGrp="1"/>
          </p:cNvSpPr>
          <p:nvPr>
            <p:ph idx="1"/>
          </p:nvPr>
        </p:nvSpPr>
        <p:spPr/>
        <p:txBody>
          <a:bodyPr/>
          <a:lstStyle/>
          <a:p>
            <a:r>
              <a:rPr lang="en-GB" dirty="0"/>
              <a:t>The company uses a stationary (s, S) policy to decide how much to order, i.e.,</a:t>
            </a:r>
          </a:p>
          <a:p>
            <a:endParaRPr lang="en-GB" dirty="0"/>
          </a:p>
          <a:p>
            <a:endParaRPr lang="en-GB" dirty="0"/>
          </a:p>
          <a:p>
            <a:endParaRPr lang="en-GB" dirty="0"/>
          </a:p>
          <a:p>
            <a:endParaRPr lang="en-GB" dirty="0"/>
          </a:p>
          <a:p>
            <a:r>
              <a:rPr lang="en-GB" dirty="0"/>
              <a:t>where I is the inventory level at the beginning of the month</a:t>
            </a:r>
            <a:endParaRPr lang="en-US" dirty="0"/>
          </a:p>
        </p:txBody>
      </p:sp>
      <p:pic>
        <p:nvPicPr>
          <p:cNvPr id="5" name="Picture 4">
            <a:extLst>
              <a:ext uri="{FF2B5EF4-FFF2-40B4-BE49-F238E27FC236}">
                <a16:creationId xmlns:a16="http://schemas.microsoft.com/office/drawing/2014/main" id="{D8C3CEDD-FBDC-4543-B1A8-637BA47EB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2895600"/>
            <a:ext cx="5943600" cy="1551690"/>
          </a:xfrm>
          <a:prstGeom prst="rect">
            <a:avLst/>
          </a:prstGeom>
        </p:spPr>
      </p:pic>
    </p:spTree>
    <p:extLst>
      <p:ext uri="{BB962C8B-B14F-4D97-AF65-F5344CB8AC3E}">
        <p14:creationId xmlns:p14="http://schemas.microsoft.com/office/powerpoint/2010/main" val="517245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10000"/>
          </a:bodyPr>
          <a:lstStyle/>
          <a:p>
            <a:pPr algn="just"/>
            <a:r>
              <a:rPr lang="en-GB" dirty="0"/>
              <a:t>When a demand occurs, it is satisfied immediately if the inventory level is at least as large as the demand.</a:t>
            </a:r>
          </a:p>
          <a:p>
            <a:pPr algn="just"/>
            <a:r>
              <a:rPr lang="en-GB" dirty="0"/>
              <a:t>If the demand exceeds the inventory level, the excess of demand over supply is backlogged and satisfied by future deliveries (in this case, the new inventory level is equal to the old inventory level minus the demand size, resulting in a negative inventory level).</a:t>
            </a:r>
          </a:p>
          <a:p>
            <a:pPr algn="just"/>
            <a:r>
              <a:rPr lang="en-GB" dirty="0"/>
              <a:t>When an order arrives, it is first used to eliminate as much of the backlog (if any) as possible; the remainder of the order (if any) is added to the inventory.</a:t>
            </a:r>
            <a:endParaRPr lang="en-US" dirty="0"/>
          </a:p>
        </p:txBody>
      </p:sp>
    </p:spTree>
    <p:extLst>
      <p:ext uri="{BB962C8B-B14F-4D97-AF65-F5344CB8AC3E}">
        <p14:creationId xmlns:p14="http://schemas.microsoft.com/office/powerpoint/2010/main" val="2595400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77500" lnSpcReduction="20000"/>
          </a:bodyPr>
          <a:lstStyle/>
          <a:p>
            <a:pPr algn="just"/>
            <a:r>
              <a:rPr lang="en-GB" dirty="0"/>
              <a:t>So far, we have discussed only one type of cost incurred by the inventory system, the ordering cost.</a:t>
            </a:r>
          </a:p>
          <a:p>
            <a:pPr algn="just"/>
            <a:r>
              <a:rPr lang="en-GB" dirty="0"/>
              <a:t>However, most real inventory systems also have two additional types of costs, </a:t>
            </a:r>
            <a:r>
              <a:rPr lang="en-GB" b="1" dirty="0"/>
              <a:t>holding</a:t>
            </a:r>
            <a:r>
              <a:rPr lang="en-GB" dirty="0"/>
              <a:t> and </a:t>
            </a:r>
            <a:r>
              <a:rPr lang="en-GB" b="1" dirty="0"/>
              <a:t>shortage</a:t>
            </a:r>
            <a:r>
              <a:rPr lang="en-GB" dirty="0"/>
              <a:t> costs, which we discuss after introducing some additional notation.</a:t>
            </a:r>
          </a:p>
          <a:p>
            <a:pPr algn="just"/>
            <a:r>
              <a:rPr lang="en-GB" dirty="0"/>
              <a:t>Let I(t) be the inventory level at time t [note that I(t) could be positive, negative, or zero]</a:t>
            </a:r>
          </a:p>
          <a:p>
            <a:pPr algn="just"/>
            <a:r>
              <a:rPr lang="en-GB" dirty="0"/>
              <a:t>Let I</a:t>
            </a:r>
            <a:r>
              <a:rPr lang="en-GB" baseline="30000" dirty="0"/>
              <a:t>+</a:t>
            </a:r>
            <a:r>
              <a:rPr lang="en-GB" dirty="0"/>
              <a:t>(t) = max{I(t), 0} be the number of items physically on hand in the inventory at time t [note that I</a:t>
            </a:r>
            <a:r>
              <a:rPr lang="en-GB" baseline="30000" dirty="0"/>
              <a:t>+</a:t>
            </a:r>
            <a:r>
              <a:rPr lang="en-GB" dirty="0"/>
              <a:t>(t) &gt;= 0}]; and let I</a:t>
            </a:r>
            <a:r>
              <a:rPr lang="en-GB" baseline="30000" dirty="0"/>
              <a:t>-</a:t>
            </a:r>
            <a:r>
              <a:rPr lang="en-GB" dirty="0"/>
              <a:t>(t) = max{-I(t), 0} be the backlog at time t [I</a:t>
            </a:r>
            <a:r>
              <a:rPr lang="en-GB" baseline="30000" dirty="0"/>
              <a:t>-</a:t>
            </a:r>
            <a:r>
              <a:rPr lang="en-GB" dirty="0"/>
              <a:t>(t) &gt;= 0 as well]. </a:t>
            </a:r>
          </a:p>
          <a:p>
            <a:pPr algn="just"/>
            <a:r>
              <a:rPr lang="en-GB" dirty="0"/>
              <a:t>A possible realization of I(t), I</a:t>
            </a:r>
            <a:r>
              <a:rPr lang="en-GB" baseline="30000" dirty="0"/>
              <a:t>+</a:t>
            </a:r>
            <a:r>
              <a:rPr lang="en-GB" dirty="0"/>
              <a:t>(t), and I</a:t>
            </a:r>
            <a:r>
              <a:rPr lang="en-GB" baseline="30000" dirty="0"/>
              <a:t>-</a:t>
            </a:r>
            <a:r>
              <a:rPr lang="en-GB" dirty="0"/>
              <a:t>(t) is shown in the next figure. The time points at which I(t) decreases are the ones at which demands occur.</a:t>
            </a:r>
            <a:endParaRPr lang="en-US" dirty="0"/>
          </a:p>
        </p:txBody>
      </p:sp>
    </p:spTree>
    <p:extLst>
      <p:ext uri="{BB962C8B-B14F-4D97-AF65-F5344CB8AC3E}">
        <p14:creationId xmlns:p14="http://schemas.microsoft.com/office/powerpoint/2010/main" val="4046412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pic>
        <p:nvPicPr>
          <p:cNvPr id="5" name="Content Placeholder 4">
            <a:extLst>
              <a:ext uri="{FF2B5EF4-FFF2-40B4-BE49-F238E27FC236}">
                <a16:creationId xmlns:a16="http://schemas.microsoft.com/office/drawing/2014/main" id="{D2AD8631-ED2D-41DB-993B-076C628DF1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37263"/>
            <a:ext cx="8229600" cy="3926473"/>
          </a:xfrm>
        </p:spPr>
      </p:pic>
    </p:spTree>
    <p:extLst>
      <p:ext uri="{BB962C8B-B14F-4D97-AF65-F5344CB8AC3E}">
        <p14:creationId xmlns:p14="http://schemas.microsoft.com/office/powerpoint/2010/main" val="16727880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For our model, we shall assume that the company incurs a </a:t>
            </a:r>
            <a:r>
              <a:rPr lang="en-GB" b="1" dirty="0"/>
              <a:t>holding cost</a:t>
            </a:r>
            <a:r>
              <a:rPr lang="en-GB" dirty="0"/>
              <a:t> of h = $1 per item per month held in (positive) inventory. </a:t>
            </a:r>
          </a:p>
          <a:p>
            <a:pPr algn="just"/>
            <a:r>
              <a:rPr lang="en-GB" dirty="0"/>
              <a:t>The holding cost includes such costs as warehouse rental, insurance, taxes, and maintenance, as well as the opportunity cost of having capital tied up in inventory rather than invested elsewhere.</a:t>
            </a:r>
          </a:p>
          <a:p>
            <a:pPr algn="just"/>
            <a:r>
              <a:rPr lang="en-GB" dirty="0"/>
              <a:t>We have ignored in our formulation the fact that some holding costs are still incurred when I</a:t>
            </a:r>
            <a:r>
              <a:rPr lang="en-GB" baseline="30000" dirty="0"/>
              <a:t>+</a:t>
            </a:r>
            <a:r>
              <a:rPr lang="en-GB" dirty="0"/>
              <a:t>(t) = 0.</a:t>
            </a:r>
          </a:p>
          <a:p>
            <a:pPr algn="just"/>
            <a:r>
              <a:rPr lang="en-GB" dirty="0"/>
              <a:t>However, since our goal is to compare ordering policies, ignoring this factor, which after all is independent of the policy used, will not affect our assessment of which policy is best.</a:t>
            </a:r>
          </a:p>
        </p:txBody>
      </p:sp>
    </p:spTree>
    <p:extLst>
      <p:ext uri="{BB962C8B-B14F-4D97-AF65-F5344CB8AC3E}">
        <p14:creationId xmlns:p14="http://schemas.microsoft.com/office/powerpoint/2010/main" val="4113783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Now, since I</a:t>
            </a:r>
            <a:r>
              <a:rPr lang="en-GB" baseline="30000" dirty="0"/>
              <a:t>+</a:t>
            </a:r>
            <a:r>
              <a:rPr lang="en-GB" dirty="0"/>
              <a:t>(t) is the number of items held in inventory at time t, the time-average (per month) number of items held in inventory for the n-month period is:</a:t>
            </a:r>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which is akin to the definition of the time-average number of customers in queue given previously. Thus, the average holding cost per month is </a:t>
            </a:r>
            <a:r>
              <a:rPr lang="en-GB" dirty="0" err="1"/>
              <a:t>hI</a:t>
            </a:r>
            <a:r>
              <a:rPr lang="en-GB" dirty="0"/>
              <a:t>̄</a:t>
            </a:r>
            <a:r>
              <a:rPr lang="en-GB" baseline="30000" dirty="0"/>
              <a:t>+</a:t>
            </a:r>
            <a:r>
              <a:rPr lang="en-GB" dirty="0"/>
              <a:t>.</a:t>
            </a:r>
          </a:p>
        </p:txBody>
      </p:sp>
      <p:pic>
        <p:nvPicPr>
          <p:cNvPr id="5" name="Picture 4">
            <a:extLst>
              <a:ext uri="{FF2B5EF4-FFF2-40B4-BE49-F238E27FC236}">
                <a16:creationId xmlns:a16="http://schemas.microsoft.com/office/drawing/2014/main" id="{A8416BB6-91E6-4A72-B01F-A2E9F09CCB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2819400"/>
            <a:ext cx="4191000" cy="2149474"/>
          </a:xfrm>
          <a:prstGeom prst="rect">
            <a:avLst/>
          </a:prstGeom>
        </p:spPr>
      </p:pic>
    </p:spTree>
    <p:extLst>
      <p:ext uri="{BB962C8B-B14F-4D97-AF65-F5344CB8AC3E}">
        <p14:creationId xmlns:p14="http://schemas.microsoft.com/office/powerpoint/2010/main" val="1309024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10000"/>
          </a:bodyPr>
          <a:lstStyle/>
          <a:p>
            <a:pPr algn="just"/>
            <a:r>
              <a:rPr lang="en-GB" dirty="0"/>
              <a:t>Similarly, suppose that the company incurs a </a:t>
            </a:r>
            <a:r>
              <a:rPr lang="en-GB" b="1" dirty="0"/>
              <a:t>backlog cost</a:t>
            </a:r>
            <a:r>
              <a:rPr lang="en-GB" dirty="0"/>
              <a:t> of π = $5 per item per month in backlog; this accounts for the cost of extra record keeping when a backlog exists, as well as loss of customers’ goodwill. The time-average number of items in backlog is:</a:t>
            </a:r>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so the average backlog cost per month is πĪ</a:t>
            </a:r>
            <a:r>
              <a:rPr lang="en-GB" baseline="30000" dirty="0"/>
              <a:t>-</a:t>
            </a:r>
            <a:r>
              <a:rPr lang="en-GB" dirty="0"/>
              <a:t>.</a:t>
            </a:r>
          </a:p>
        </p:txBody>
      </p:sp>
      <p:pic>
        <p:nvPicPr>
          <p:cNvPr id="6" name="Picture 5">
            <a:extLst>
              <a:ext uri="{FF2B5EF4-FFF2-40B4-BE49-F238E27FC236}">
                <a16:creationId xmlns:a16="http://schemas.microsoft.com/office/drawing/2014/main" id="{CD664C2F-3F31-4E96-B54E-82CA23159D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3733800"/>
            <a:ext cx="3429000" cy="1676400"/>
          </a:xfrm>
          <a:prstGeom prst="rect">
            <a:avLst/>
          </a:prstGeom>
        </p:spPr>
      </p:pic>
    </p:spTree>
    <p:extLst>
      <p:ext uri="{BB962C8B-B14F-4D97-AF65-F5344CB8AC3E}">
        <p14:creationId xmlns:p14="http://schemas.microsoft.com/office/powerpoint/2010/main" val="15386749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3605-261D-4EDD-90F1-7A5475C58C8B}"/>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A9BAB17-5ED6-49E4-BBD3-4A53992FBC77}"/>
              </a:ext>
            </a:extLst>
          </p:cNvPr>
          <p:cNvSpPr>
            <a:spLocks noGrp="1"/>
          </p:cNvSpPr>
          <p:nvPr>
            <p:ph idx="1"/>
          </p:nvPr>
        </p:nvSpPr>
        <p:spPr>
          <a:xfrm>
            <a:off x="457200" y="1600200"/>
            <a:ext cx="8229600" cy="4571999"/>
          </a:xfrm>
        </p:spPr>
        <p:txBody>
          <a:bodyPr>
            <a:normAutofit lnSpcReduction="10000"/>
          </a:bodyPr>
          <a:lstStyle/>
          <a:p>
            <a:pPr algn="just"/>
            <a:r>
              <a:rPr lang="en-GB" dirty="0"/>
              <a:t>Assume that the initial inventory level is I(0) = 60 and that no order is outstanding.</a:t>
            </a:r>
          </a:p>
          <a:p>
            <a:pPr algn="just"/>
            <a:r>
              <a:rPr lang="en-GB" dirty="0"/>
              <a:t>We simulate the inventory system for n = 120 months and use the average total cost per month (which is the sum of the average ordering cost per month, the average holding cost per month, and the average shortage cost per month) to compare the following nine inventory policies:</a:t>
            </a:r>
          </a:p>
          <a:p>
            <a:pPr algn="just"/>
            <a:endParaRPr lang="en-GB" dirty="0"/>
          </a:p>
          <a:p>
            <a:pPr algn="just"/>
            <a:endParaRPr lang="en-GB" dirty="0"/>
          </a:p>
          <a:p>
            <a:pPr algn="just"/>
            <a:endParaRPr lang="en-GB" dirty="0"/>
          </a:p>
          <a:p>
            <a:pPr algn="just"/>
            <a:endParaRPr lang="en-GB" dirty="0"/>
          </a:p>
        </p:txBody>
      </p:sp>
      <p:pic>
        <p:nvPicPr>
          <p:cNvPr id="5" name="Picture 4">
            <a:extLst>
              <a:ext uri="{FF2B5EF4-FFF2-40B4-BE49-F238E27FC236}">
                <a16:creationId xmlns:a16="http://schemas.microsoft.com/office/drawing/2014/main" id="{612D4591-1069-4458-9AFF-479238689D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50" y="5832474"/>
            <a:ext cx="8826500" cy="679450"/>
          </a:xfrm>
          <a:prstGeom prst="rect">
            <a:avLst/>
          </a:prstGeom>
        </p:spPr>
      </p:pic>
    </p:spTree>
    <p:extLst>
      <p:ext uri="{BB962C8B-B14F-4D97-AF65-F5344CB8AC3E}">
        <p14:creationId xmlns:p14="http://schemas.microsoft.com/office/powerpoint/2010/main" val="11165625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4A77A-4C23-4BC1-85F0-A113011BE605}"/>
              </a:ext>
            </a:extLst>
          </p:cNvPr>
          <p:cNvSpPr>
            <a:spLocks noGrp="1"/>
          </p:cNvSpPr>
          <p:nvPr>
            <p:ph type="title"/>
          </p:nvPr>
        </p:nvSpPr>
        <p:spPr/>
        <p:txBody>
          <a:bodyPr>
            <a:normAutofit/>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A900123E-AF26-4A90-8783-8EDFEF0CF05F}"/>
              </a:ext>
            </a:extLst>
          </p:cNvPr>
          <p:cNvSpPr>
            <a:spLocks noGrp="1"/>
          </p:cNvSpPr>
          <p:nvPr>
            <p:ph idx="1"/>
          </p:nvPr>
        </p:nvSpPr>
        <p:spPr/>
        <p:txBody>
          <a:bodyPr>
            <a:normAutofit fontScale="62500" lnSpcReduction="20000"/>
          </a:bodyPr>
          <a:lstStyle/>
          <a:p>
            <a:pPr algn="just"/>
            <a:r>
              <a:rPr lang="en-GB" dirty="0"/>
              <a:t>Our model of the inventory system uses the following types of events:</a:t>
            </a:r>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We have chosen to make the end of the simulation event type 3 rather than type 4, since at time 120 both “end-simulation” and “inventory-evaluation” events will eventually be scheduled and we would like to execute the former event first at this time (Since the simulation is over at time 120, there is no sense in evaluating the inventory and possibly ordering, incurring an ordering cost for an order that will never arrive).</a:t>
            </a:r>
          </a:p>
          <a:p>
            <a:pPr algn="just"/>
            <a:endParaRPr lang="en-GB" dirty="0"/>
          </a:p>
        </p:txBody>
      </p:sp>
      <p:pic>
        <p:nvPicPr>
          <p:cNvPr id="5" name="Picture 4">
            <a:extLst>
              <a:ext uri="{FF2B5EF4-FFF2-40B4-BE49-F238E27FC236}">
                <a16:creationId xmlns:a16="http://schemas.microsoft.com/office/drawing/2014/main" id="{3C2EF5CC-EEAE-4017-BB78-D00728F88D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133600"/>
            <a:ext cx="9124950" cy="1974850"/>
          </a:xfrm>
          <a:prstGeom prst="rect">
            <a:avLst/>
          </a:prstGeom>
        </p:spPr>
      </p:pic>
    </p:spTree>
    <p:extLst>
      <p:ext uri="{BB962C8B-B14F-4D97-AF65-F5344CB8AC3E}">
        <p14:creationId xmlns:p14="http://schemas.microsoft.com/office/powerpoint/2010/main" val="39804199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C9734-018B-477C-87B6-56C6CF6757A1}"/>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F7667257-12FB-4E7A-B2E6-F09A6656E7D6}"/>
              </a:ext>
            </a:extLst>
          </p:cNvPr>
          <p:cNvSpPr>
            <a:spLocks noGrp="1"/>
          </p:cNvSpPr>
          <p:nvPr>
            <p:ph idx="1"/>
          </p:nvPr>
        </p:nvSpPr>
        <p:spPr/>
        <p:txBody>
          <a:bodyPr>
            <a:normAutofit lnSpcReduction="10000"/>
          </a:bodyPr>
          <a:lstStyle/>
          <a:p>
            <a:pPr algn="just"/>
            <a:r>
              <a:rPr lang="en-GB" dirty="0"/>
              <a:t>The execution of event type 3 before event type 4 is guaranteed because the timing routine gives preference to the lowest-numbered event if two or more events are scheduled to occur at the same time.</a:t>
            </a:r>
          </a:p>
          <a:p>
            <a:pPr algn="just"/>
            <a:r>
              <a:rPr lang="en-GB" dirty="0"/>
              <a:t>In general, a simulation model should be designed to process events in an appropriate order when time ties occur.</a:t>
            </a:r>
          </a:p>
          <a:p>
            <a:pPr algn="just"/>
            <a:r>
              <a:rPr lang="en-GB" dirty="0"/>
              <a:t>An event graph appears in the next Figure.</a:t>
            </a:r>
            <a:endParaRPr lang="en-US" dirty="0"/>
          </a:p>
        </p:txBody>
      </p:sp>
    </p:spTree>
    <p:extLst>
      <p:ext uri="{BB962C8B-B14F-4D97-AF65-F5344CB8AC3E}">
        <p14:creationId xmlns:p14="http://schemas.microsoft.com/office/powerpoint/2010/main" val="7042252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C460C-765E-4132-A576-549206F34EB8}"/>
              </a:ext>
            </a:extLst>
          </p:cNvPr>
          <p:cNvSpPr>
            <a:spLocks noGrp="1"/>
          </p:cNvSpPr>
          <p:nvPr>
            <p:ph type="title"/>
          </p:nvPr>
        </p:nvSpPr>
        <p:spPr/>
        <p:txBody>
          <a:bodyPr/>
          <a:lstStyle/>
          <a:p>
            <a:r>
              <a:rPr lang="en-GB" dirty="0"/>
              <a:t>Program Organization and Logic</a:t>
            </a:r>
            <a:endParaRPr lang="en-US" dirty="0"/>
          </a:p>
        </p:txBody>
      </p:sp>
      <p:pic>
        <p:nvPicPr>
          <p:cNvPr id="5" name="Content Placeholder 4">
            <a:extLst>
              <a:ext uri="{FF2B5EF4-FFF2-40B4-BE49-F238E27FC236}">
                <a16:creationId xmlns:a16="http://schemas.microsoft.com/office/drawing/2014/main" id="{0E16A0E4-0536-4C4C-A059-B7C57FF90E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8811" y="1600200"/>
            <a:ext cx="7486378" cy="4525963"/>
          </a:xfrm>
        </p:spPr>
      </p:pic>
    </p:spTree>
    <p:extLst>
      <p:ext uri="{BB962C8B-B14F-4D97-AF65-F5344CB8AC3E}">
        <p14:creationId xmlns:p14="http://schemas.microsoft.com/office/powerpoint/2010/main" val="1929093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92500" lnSpcReduction="20000"/>
          </a:bodyPr>
          <a:lstStyle/>
          <a:p>
            <a:pPr algn="just"/>
            <a:r>
              <a:rPr lang="en-GB" dirty="0"/>
              <a:t>There are three types of random variates needed to simulate this system. The </a:t>
            </a:r>
            <a:r>
              <a:rPr lang="en-GB" dirty="0" err="1"/>
              <a:t>interdemand</a:t>
            </a:r>
            <a:r>
              <a:rPr lang="en-GB" dirty="0"/>
              <a:t> times are distributed exponentially.</a:t>
            </a:r>
          </a:p>
          <a:p>
            <a:pPr algn="just"/>
            <a:r>
              <a:rPr lang="en-GB" dirty="0"/>
              <a:t>The demand-size random variate D must be discrete, as described above, and can be generated as follows.</a:t>
            </a:r>
          </a:p>
          <a:p>
            <a:pPr algn="just"/>
            <a:r>
              <a:rPr lang="en-GB" dirty="0"/>
              <a:t>First divide the unit interval into the contiguous subintervals C1 = [0, 1/6], C2 = [1/6, 1/2], C3 = [1/2, 5/6] and C4 = [5/6, 1], and obtain a U(0, 1) random variate U from the random-number generator.</a:t>
            </a:r>
            <a:endParaRPr lang="en-US" dirty="0"/>
          </a:p>
        </p:txBody>
      </p:sp>
    </p:spTree>
    <p:extLst>
      <p:ext uri="{BB962C8B-B14F-4D97-AF65-F5344CB8AC3E}">
        <p14:creationId xmlns:p14="http://schemas.microsoft.com/office/powerpoint/2010/main" val="39897886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77500" lnSpcReduction="20000"/>
          </a:bodyPr>
          <a:lstStyle/>
          <a:p>
            <a:pPr algn="just"/>
            <a:r>
              <a:rPr lang="en-GB" dirty="0"/>
              <a:t>If U falls in C1, return D = 1; if U falls in C2, return D = 2; and so on.</a:t>
            </a:r>
          </a:p>
          <a:p>
            <a:pPr algn="just"/>
            <a:r>
              <a:rPr lang="en-GB" dirty="0"/>
              <a:t>Since the width of C1 is 1/6 - 0 = 1/6, and since U is uniformly distributed over [0, 1], the probability that U falls in C1 (and thus that we return D = 1) is 1/6; this agrees with the desired probability that D = 1.</a:t>
            </a:r>
          </a:p>
          <a:p>
            <a:pPr algn="just"/>
            <a:r>
              <a:rPr lang="en-GB" dirty="0"/>
              <a:t>Similarly, we return D = 2 if U falls in C2, having probability equal to the width of C2, 1/2 – 1/6 = 1/3, as desired; and so on for the other intervals.</a:t>
            </a:r>
          </a:p>
          <a:p>
            <a:pPr algn="just"/>
            <a:r>
              <a:rPr lang="en-GB" dirty="0"/>
              <a:t>The subprogram to generate the demand sizes uses this principle and takes as input the </a:t>
            </a:r>
            <a:r>
              <a:rPr lang="en-GB" dirty="0" err="1"/>
              <a:t>cutoff</a:t>
            </a:r>
            <a:r>
              <a:rPr lang="en-GB" dirty="0"/>
              <a:t> points defining the above subintervals, which are the cumulative probabilities of the distribution of D.</a:t>
            </a:r>
            <a:endParaRPr lang="en-US" dirty="0"/>
          </a:p>
        </p:txBody>
      </p:sp>
    </p:spTree>
    <p:extLst>
      <p:ext uri="{BB962C8B-B14F-4D97-AF65-F5344CB8AC3E}">
        <p14:creationId xmlns:p14="http://schemas.microsoft.com/office/powerpoint/2010/main" val="2133996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85000" lnSpcReduction="20000"/>
          </a:bodyPr>
          <a:lstStyle/>
          <a:p>
            <a:pPr algn="just"/>
            <a:r>
              <a:rPr lang="en-GB" dirty="0"/>
              <a:t>We now describe the logic for event types 1, 2, and 4, which actually involve state changes.</a:t>
            </a:r>
          </a:p>
          <a:p>
            <a:pPr algn="just"/>
            <a:r>
              <a:rPr lang="en-GB" dirty="0"/>
              <a:t>The order-arrival event is flowcharted in the next figure, and must make the changes necessary when an order (which was previously placed) arrives from the supplier.</a:t>
            </a:r>
          </a:p>
          <a:p>
            <a:pPr algn="just"/>
            <a:r>
              <a:rPr lang="en-GB" dirty="0"/>
              <a:t>The inventory level is increased by the amount of the order, and the order-arrival event must be eliminated from consideration.</a:t>
            </a:r>
          </a:p>
          <a:p>
            <a:pPr algn="just"/>
            <a:r>
              <a:rPr lang="en-GB" dirty="0"/>
              <a:t>A flowchart for the demand event is also given in the next figure, and processes the changes necessary to represent a demand’s occurrence.</a:t>
            </a:r>
          </a:p>
        </p:txBody>
      </p:sp>
    </p:spTree>
    <p:extLst>
      <p:ext uri="{BB962C8B-B14F-4D97-AF65-F5344CB8AC3E}">
        <p14:creationId xmlns:p14="http://schemas.microsoft.com/office/powerpoint/2010/main" val="4276830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a:bodyPr>
          <a:lstStyle/>
          <a:p>
            <a:pPr algn="just"/>
            <a:r>
              <a:rPr lang="en-GB" dirty="0"/>
              <a:t>First, the demand size is generated, and the inventory is decremented by this amount.</a:t>
            </a:r>
          </a:p>
          <a:p>
            <a:pPr algn="just"/>
            <a:r>
              <a:rPr lang="en-GB" dirty="0"/>
              <a:t>Finally, the time of the next demand is scheduled into the event list. Note that this is the place where the inventory level might become negative.</a:t>
            </a:r>
            <a:endParaRPr lang="en-US" dirty="0"/>
          </a:p>
        </p:txBody>
      </p:sp>
    </p:spTree>
    <p:extLst>
      <p:ext uri="{BB962C8B-B14F-4D97-AF65-F5344CB8AC3E}">
        <p14:creationId xmlns:p14="http://schemas.microsoft.com/office/powerpoint/2010/main" val="27364955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pic>
        <p:nvPicPr>
          <p:cNvPr id="5" name="Content Placeholder 4">
            <a:extLst>
              <a:ext uri="{FF2B5EF4-FFF2-40B4-BE49-F238E27FC236}">
                <a16:creationId xmlns:a16="http://schemas.microsoft.com/office/drawing/2014/main" id="{45421AD7-4863-47D0-9F96-0E4AE934E2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7733" y="1600200"/>
            <a:ext cx="4948534" cy="4525963"/>
          </a:xfrm>
        </p:spPr>
      </p:pic>
    </p:spTree>
    <p:extLst>
      <p:ext uri="{BB962C8B-B14F-4D97-AF65-F5344CB8AC3E}">
        <p14:creationId xmlns:p14="http://schemas.microsoft.com/office/powerpoint/2010/main" val="2636711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The inventory-evaluation event, which takes place at the beginning of each month, is flowcharted in the next figure. </a:t>
            </a:r>
          </a:p>
          <a:p>
            <a:pPr algn="just"/>
            <a:r>
              <a:rPr lang="en-GB" dirty="0"/>
              <a:t>If the inventory level I(t) at the time of the evaluation is at least s, then no order is placed, and nothing is done except to schedule the next evaluation into the event list.</a:t>
            </a:r>
          </a:p>
          <a:p>
            <a:pPr algn="just"/>
            <a:r>
              <a:rPr lang="en-GB" dirty="0"/>
              <a:t>On the other hand, if I(t) &lt; s, we want to place an order for S - I(t) items.</a:t>
            </a:r>
          </a:p>
          <a:p>
            <a:pPr algn="just"/>
            <a:r>
              <a:rPr lang="en-GB" dirty="0"/>
              <a:t>This is done by storing the amount of the order [S - I(t)] until the order arrives, and scheduling its arrival time.</a:t>
            </a:r>
          </a:p>
          <a:p>
            <a:pPr algn="just"/>
            <a:r>
              <a:rPr lang="en-GB" dirty="0"/>
              <a:t>In this case as well, we want to schedule the next inventory-evaluation event.</a:t>
            </a:r>
            <a:endParaRPr lang="en-US" dirty="0"/>
          </a:p>
        </p:txBody>
      </p:sp>
    </p:spTree>
    <p:extLst>
      <p:ext uri="{BB962C8B-B14F-4D97-AF65-F5344CB8AC3E}">
        <p14:creationId xmlns:p14="http://schemas.microsoft.com/office/powerpoint/2010/main" val="11859990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F9F6-4925-4B28-BE09-57E588C0DE2D}"/>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9BE451BA-217F-42D4-B26E-3883E81FE3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9550" y="152400"/>
            <a:ext cx="3509850" cy="6172200"/>
          </a:xfrm>
        </p:spPr>
      </p:pic>
    </p:spTree>
    <p:extLst>
      <p:ext uri="{BB962C8B-B14F-4D97-AF65-F5344CB8AC3E}">
        <p14:creationId xmlns:p14="http://schemas.microsoft.com/office/powerpoint/2010/main" val="22140880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a:xfrm>
            <a:off x="457200" y="0"/>
            <a:ext cx="8229600" cy="1143000"/>
          </a:xfrm>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a:xfrm>
            <a:off x="457200" y="1066800"/>
            <a:ext cx="8534400" cy="5334000"/>
          </a:xfrm>
        </p:spPr>
        <p:txBody>
          <a:bodyPr>
            <a:normAutofit fontScale="70000" lnSpcReduction="20000"/>
          </a:bodyPr>
          <a:lstStyle/>
          <a:p>
            <a:pPr algn="just"/>
            <a:r>
              <a:rPr lang="en-GB" dirty="0"/>
              <a:t>It is convenient to write a separate </a:t>
            </a:r>
            <a:r>
              <a:rPr lang="en-GB" dirty="0" err="1"/>
              <a:t>nonevent</a:t>
            </a:r>
            <a:r>
              <a:rPr lang="en-GB" dirty="0"/>
              <a:t> routine to update the continuous-time statistical accumulators which is flowcharted in the next figure.</a:t>
            </a:r>
          </a:p>
          <a:p>
            <a:pPr algn="just"/>
            <a:r>
              <a:rPr lang="en-GB" dirty="0"/>
              <a:t>The principal issue is whether we need to update the area under I</a:t>
            </a:r>
            <a:r>
              <a:rPr lang="en-GB" baseline="30000" dirty="0"/>
              <a:t>-</a:t>
            </a:r>
            <a:r>
              <a:rPr lang="en-GB" dirty="0"/>
              <a:t>(t) or I</a:t>
            </a:r>
            <a:r>
              <a:rPr lang="en-GB" baseline="30000" dirty="0"/>
              <a:t>+</a:t>
            </a:r>
            <a:r>
              <a:rPr lang="en-GB" dirty="0"/>
              <a:t>(t) (or neither).</a:t>
            </a:r>
          </a:p>
          <a:p>
            <a:pPr algn="just"/>
            <a:r>
              <a:rPr lang="en-GB" dirty="0"/>
              <a:t>If the inventory level since the last event has been negative, then we have been in backlog, so the area under I</a:t>
            </a:r>
            <a:r>
              <a:rPr lang="en-GB" baseline="30000" dirty="0"/>
              <a:t>-</a:t>
            </a:r>
            <a:r>
              <a:rPr lang="en-GB" dirty="0"/>
              <a:t>(t) only should be updated. On the other hand, if the inventory level has been positive, we need only update the area under I</a:t>
            </a:r>
            <a:r>
              <a:rPr lang="en-GB" baseline="30000" dirty="0"/>
              <a:t>+</a:t>
            </a:r>
            <a:r>
              <a:rPr lang="en-GB" dirty="0"/>
              <a:t>(t).</a:t>
            </a:r>
          </a:p>
          <a:p>
            <a:pPr algn="just"/>
            <a:r>
              <a:rPr lang="en-GB" dirty="0"/>
              <a:t>If the inventory level has been zero (a possibility), then neither update is needed. </a:t>
            </a:r>
          </a:p>
          <a:p>
            <a:pPr algn="just"/>
            <a:r>
              <a:rPr lang="en-GB" dirty="0"/>
              <a:t>The code for this routine also brings the variable for the time of the last event up to the present time. This routine will be invoked from the main program just after returning from the timing routine, regardless of the event type or whether the inventory level is actually changing at this point.</a:t>
            </a:r>
          </a:p>
          <a:p>
            <a:pPr algn="just"/>
            <a:r>
              <a:rPr lang="en-GB" dirty="0"/>
              <a:t>This provides a simple (if not the most computationally efficient) way of updating integrals for continuous-time statistics.</a:t>
            </a:r>
            <a:endParaRPr lang="en-US" dirty="0"/>
          </a:p>
        </p:txBody>
      </p:sp>
    </p:spTree>
    <p:extLst>
      <p:ext uri="{BB962C8B-B14F-4D97-AF65-F5344CB8AC3E}">
        <p14:creationId xmlns:p14="http://schemas.microsoft.com/office/powerpoint/2010/main" val="20022714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9FDA-EEB2-4367-B492-77095929FEE0}"/>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92567AE-0A7F-4F62-B74A-22BEE39FED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0" y="0"/>
            <a:ext cx="6308430" cy="6858000"/>
          </a:xfrm>
        </p:spPr>
      </p:pic>
    </p:spTree>
    <p:extLst>
      <p:ext uri="{BB962C8B-B14F-4D97-AF65-F5344CB8AC3E}">
        <p14:creationId xmlns:p14="http://schemas.microsoft.com/office/powerpoint/2010/main" val="2895055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16670</TotalTime>
  <Words>4372</Words>
  <Application>Microsoft Office PowerPoint</Application>
  <PresentationFormat>On-screen Show (4:3)</PresentationFormat>
  <Paragraphs>207</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TimesLTStd-Italic</vt:lpstr>
      <vt:lpstr>TimesLTStd-Roman</vt:lpstr>
      <vt:lpstr>Office Theme</vt:lpstr>
      <vt:lpstr>Simulation Modeling and Analysis</vt:lpstr>
      <vt:lpstr>The Nature of Simulation</vt:lpstr>
      <vt:lpstr>System</vt:lpstr>
      <vt:lpstr>System</vt:lpstr>
      <vt:lpstr>PowerPoint Presentation</vt:lpstr>
      <vt:lpstr>Ways to Study a System</vt:lpstr>
      <vt:lpstr>Experiment with the Actual System vs. Experiment with a Model of the System</vt:lpstr>
      <vt:lpstr>PowerPoint Presentation</vt:lpstr>
      <vt:lpstr>Physical Model vs. Mathematical Model</vt:lpstr>
      <vt:lpstr>PowerPoint Presentation</vt:lpstr>
      <vt:lpstr>Ways to Study a System</vt:lpstr>
      <vt:lpstr>Analytical Solution vs. Simulation</vt:lpstr>
      <vt:lpstr>PowerPoint Presentation</vt:lpstr>
      <vt:lpstr>PowerPoint Presentation</vt:lpstr>
      <vt:lpstr>PowerPoint Presentation</vt:lpstr>
      <vt:lpstr>DISCRETE-EVENT SIMULATION</vt:lpstr>
      <vt:lpstr>PowerPoint Presentation</vt:lpstr>
      <vt:lpstr>Components and Organization of a Discrete-Event Simulation Model</vt:lpstr>
      <vt:lpstr>PowerPoint Presentation</vt:lpstr>
      <vt:lpstr>PowerPoint Presentation</vt:lpstr>
      <vt:lpstr>PowerPoint Presentation</vt:lpstr>
      <vt:lpstr>SIMULATION OF A SINGLE-SERVER QUEUEING SYSTEM</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PowerPoint Presentation</vt:lpstr>
      <vt:lpstr>Program Organization and Logic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Modeling and Analysis</dc:title>
  <dc:creator>Nasim</dc:creator>
  <cp:lastModifiedBy>Md. Nasim Adnan</cp:lastModifiedBy>
  <cp:revision>256</cp:revision>
  <dcterms:created xsi:type="dcterms:W3CDTF">2006-08-16T00:00:00Z</dcterms:created>
  <dcterms:modified xsi:type="dcterms:W3CDTF">2025-10-26T13:14:01Z</dcterms:modified>
</cp:coreProperties>
</file>